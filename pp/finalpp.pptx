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1" r:id="rId2"/>
    <p:sldId id="260" r:id="rId3"/>
    <p:sldId id="258" r:id="rId4"/>
    <p:sldId id="259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3"/>
    <p:restoredTop sz="92188"/>
  </p:normalViewPr>
  <p:slideViewPr>
    <p:cSldViewPr snapToGrid="0">
      <p:cViewPr>
        <p:scale>
          <a:sx n="101" d="100"/>
          <a:sy n="101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1CB42B-96CE-344B-EA9F-D063C6DEB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31051D-F653-3F84-F5B0-BA7D707C4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21D926-833A-1376-871A-2C9C573C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DEF10-E53E-C831-BC5C-1F186995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6EECD2-A313-10BC-531F-1F5D21F5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5444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BC061D-BCA0-0C70-79A2-42B8BD7F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2F727A-E65C-1004-0B58-9642DE129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6FAEE-08DB-23CD-0F4B-5FDCA33F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ECF51A-65E9-560E-09F3-5ED34D25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3071D2-A900-E06B-56C8-B9F23BE8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33115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31E0C-5AB1-82FE-C4B4-0037BD27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EBAD68-7972-B2C5-0CF8-70E29846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8EAA4A-74A9-214C-C295-153A37C9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1913E5-BCD0-D1DF-60B3-0EAD1A0D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DB5712-2F78-CE59-386D-DB864972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8685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EC94F-FF3D-03F5-E988-1F5C73D0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BB4B81-1D83-3119-F3C2-85594C92C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70CF51-3B14-0AF1-7802-DB06EA0E8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6E0BEA-EF37-27D8-0820-BDC0316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8DEA2D-7198-8D29-4DED-0AE19050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98AF14-0A07-39A0-12A4-E6293BC1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2279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832E06-454D-8F72-2588-605DC254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8BAE7A-DDC6-D493-BA06-1346172E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055BE1-FFDD-900E-44C6-5E5448C03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B95039-2C06-BA6B-C703-D601276D4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19BC0F-B75D-FF72-6F62-EB21F5E7F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916F7DF-B373-C409-E077-F734A08B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0CDDA4-97CF-EFD7-EF62-8EB40753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8596375-7420-30F9-7F51-44C6C388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278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EC15F3-ED3B-FB55-74F0-A3E03E60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8AEF192-5B3F-817D-F1FA-57547A42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3BE4F4-F2CD-8C4A-F6E8-69A05CE1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6D8CE8-0E83-665D-1D20-9099AA71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1828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0EBF982-07B2-DBCF-09E9-C2D02D65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BA63AE-0A81-CE84-A50B-162B4C36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E5DE18-3664-ABF3-FC44-D77C043D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2713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00C6F-B09E-FF12-3517-576DEBD9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B743F1-17EA-6428-1EE9-94E19276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1E3DC8-20A8-4BFB-25BF-8D50E77E4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133DBE-D437-FF89-D79C-DFD79ADD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B619BC-4919-0999-CFC9-B4881A88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7D24E-8F04-992B-9328-279CB32A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2186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4DCF93-627E-3126-7DDD-B95071B0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20222F-2C96-48A5-0085-2E6992ACF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6C7189-00AA-02DF-1BD0-5C1F3142B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280005-90EC-630F-17C5-001DA196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10B217-9F24-5836-4201-26252104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2B6CC1-F38E-41A3-5426-8B0A89F0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3828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9A3E6-2596-36C8-D22C-660E6244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5E1240-47BA-F1C6-1CF6-6B423A87E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D2A82-C937-123A-FF75-03653F8F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EE147-8A33-552C-ACDC-11C4A931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F60B15-2D59-9EFA-8E11-95645894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42824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4E1A4D8-0A5C-0521-4C01-2793261A0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565F9E-4520-D8F4-4C1E-78CB57810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387D2C-DDFF-A467-A311-1EECF824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709ADF-8DB1-D439-7B76-810A3247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0F78EB-0227-358B-409D-9743F554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5248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C548EAC-767D-8742-CF62-78D51532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C3F87B-145E-8D3B-3101-614228050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67BDF9-E0EF-3A8C-4248-565CECC7D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C728D-416F-40D5-8F13-55E5DD1CE8D1}" type="datetimeFigureOut">
              <a:rPr lang="en-US" smtClean="0"/>
              <a:t>6/29/25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D1C4F4-14B7-022A-C4B4-C3035858F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E50848-3BCE-CD4F-700C-5B2FC8D0F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2A15BD-1A85-1A00-32E1-800618CA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D118-BB3D-0144-A1E3-D40F8A034372}" type="datetime1">
              <a:rPr lang="en-US" altLang="ja-JP" smtClean="0"/>
              <a:t>6/30/25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6A9841A-F901-903A-7453-F7D696291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0FA835-A8CD-0705-0093-0C214402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30115A-5E80-5279-FA8F-F78AC1CB4111}"/>
              </a:ext>
            </a:extLst>
          </p:cNvPr>
          <p:cNvSpPr txBox="1">
            <a:spLocks/>
          </p:cNvSpPr>
          <p:nvPr/>
        </p:nvSpPr>
        <p:spPr>
          <a:xfrm>
            <a:off x="1104900" y="511078"/>
            <a:ext cx="9982199" cy="5847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提案システム</a:t>
            </a:r>
            <a:r>
              <a:rPr kumimoji="1" lang="en-US" dirty="0" err="1"/>
              <a:t>（音通信</a:t>
            </a:r>
            <a:r>
              <a:rPr kumimoji="1" lang="en-US" dirty="0"/>
              <a:t>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C11ECD-C029-750C-BB0B-B3AB7BAE788A}"/>
              </a:ext>
            </a:extLst>
          </p:cNvPr>
          <p:cNvSpPr txBox="1"/>
          <p:nvPr/>
        </p:nvSpPr>
        <p:spPr>
          <a:xfrm>
            <a:off x="1106011" y="14351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送信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D99C59-71C4-C004-9D9B-9843D8536B2A}"/>
              </a:ext>
            </a:extLst>
          </p:cNvPr>
          <p:cNvSpPr txBox="1"/>
          <p:nvPr/>
        </p:nvSpPr>
        <p:spPr>
          <a:xfrm>
            <a:off x="1524000" y="2146300"/>
            <a:ext cx="10092828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600"/>
              <a:t>・同期信号を２回鳴らすことで通信の開始，終了を示す</a:t>
            </a:r>
            <a:endParaRPr kumimoji="1" lang="en-US" altLang="ja-JP" sz="2600" dirty="0"/>
          </a:p>
          <a:p>
            <a:endParaRPr kumimoji="1" lang="en-US" altLang="ja-JP" sz="2600" dirty="0"/>
          </a:p>
          <a:p>
            <a:r>
              <a:rPr kumimoji="1" lang="ja-JP" altLang="en-US" sz="2600"/>
              <a:t>・４進数の数列を</a:t>
            </a:r>
            <a:r>
              <a:rPr kumimoji="1" lang="en-US" altLang="ja-JP" sz="2600" dirty="0"/>
              <a:t>2</a:t>
            </a:r>
            <a:r>
              <a:rPr kumimoji="1" lang="ja-JP" altLang="en-US" sz="2600"/>
              <a:t>桁に区切り，各シンボルを</a:t>
            </a:r>
            <a:r>
              <a:rPr kumimoji="1" lang="en-US" altLang="ja-JP" sz="2600" dirty="0"/>
              <a:t>16</a:t>
            </a:r>
            <a:r>
              <a:rPr kumimoji="1" lang="ja-JP" altLang="en-US" sz="2600"/>
              <a:t>音程を用いて送信</a:t>
            </a:r>
            <a:endParaRPr kumimoji="1" lang="en-US" altLang="ja-JP" sz="2600" dirty="0"/>
          </a:p>
          <a:p>
            <a:endParaRPr kumimoji="1" lang="en-US" altLang="ja-JP" sz="2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B7F223-C1AC-AE5D-08FE-B286167B2DF2}"/>
              </a:ext>
            </a:extLst>
          </p:cNvPr>
          <p:cNvSpPr txBox="1"/>
          <p:nvPr/>
        </p:nvSpPr>
        <p:spPr>
          <a:xfrm>
            <a:off x="1072594" y="383907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受信</a:t>
            </a:r>
            <a:endParaRPr kumimoji="1" lang="ja-JP" altLang="en-US" sz="28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E08B99-21C2-2F0E-69D4-A39F15CEF44E}"/>
              </a:ext>
            </a:extLst>
          </p:cNvPr>
          <p:cNvSpPr txBox="1"/>
          <p:nvPr/>
        </p:nvSpPr>
        <p:spPr>
          <a:xfrm>
            <a:off x="1562100" y="4368800"/>
            <a:ext cx="956864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600"/>
              <a:t>・マイクで音を拾い周波数を検知し，対応する</a:t>
            </a:r>
            <a:r>
              <a:rPr kumimoji="1" lang="en-US" altLang="ja-JP" sz="2600" dirty="0"/>
              <a:t>4</a:t>
            </a:r>
            <a:r>
              <a:rPr kumimoji="1" lang="ja-JP" altLang="en-US" sz="2600"/>
              <a:t>進数</a:t>
            </a:r>
            <a:r>
              <a:rPr kumimoji="1" lang="en-US" altLang="ja-JP" sz="2600" dirty="0"/>
              <a:t>2</a:t>
            </a:r>
            <a:r>
              <a:rPr kumimoji="1" lang="ja-JP" altLang="en-US" sz="2600"/>
              <a:t>桁を取得</a:t>
            </a:r>
            <a:endParaRPr kumimoji="1" lang="en-US" altLang="ja-JP" sz="2600" dirty="0"/>
          </a:p>
        </p:txBody>
      </p:sp>
    </p:spTree>
    <p:extLst>
      <p:ext uri="{BB962C8B-B14F-4D97-AF65-F5344CB8AC3E}">
        <p14:creationId xmlns:p14="http://schemas.microsoft.com/office/powerpoint/2010/main" val="277581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774087-B63F-B1F6-CCD7-90487BE2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6F30-673C-294E-ADFB-23D42197096D}" type="datetime1">
              <a:rPr lang="en-US" altLang="ja-JP" smtClean="0"/>
              <a:t>6/30/25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9E642F-998C-C7E1-4C67-D7B2E1DA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6495C6-77B5-44FB-3C24-B8E40346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56362A-A99F-B798-17AB-EA7F0F354684}"/>
              </a:ext>
            </a:extLst>
          </p:cNvPr>
          <p:cNvSpPr txBox="1">
            <a:spLocks/>
          </p:cNvSpPr>
          <p:nvPr/>
        </p:nvSpPr>
        <p:spPr>
          <a:xfrm>
            <a:off x="1104900" y="511078"/>
            <a:ext cx="9982199" cy="5847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提案システムの構成図</a:t>
            </a:r>
            <a:r>
              <a:rPr kumimoji="1" lang="en-US" dirty="0" err="1"/>
              <a:t>（音通信</a:t>
            </a:r>
            <a:r>
              <a:rPr kumimoji="1" lang="en-US" dirty="0"/>
              <a:t>）</a:t>
            </a:r>
          </a:p>
        </p:txBody>
      </p:sp>
      <p:pic>
        <p:nvPicPr>
          <p:cNvPr id="9" name="図 8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6140DBF3-66EE-BFED-AE21-854C0569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47" y="1193801"/>
            <a:ext cx="2590800" cy="1943100"/>
          </a:xfrm>
          <a:prstGeom prst="rect">
            <a:avLst/>
          </a:prstGeom>
        </p:spPr>
      </p:pic>
      <p:pic>
        <p:nvPicPr>
          <p:cNvPr id="10" name="図 9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0ECDAD49-3A59-BCD6-3290-E5C9D38B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193801"/>
            <a:ext cx="2590800" cy="1943100"/>
          </a:xfrm>
          <a:prstGeom prst="rect">
            <a:avLst/>
          </a:prstGeom>
        </p:spPr>
      </p:pic>
      <p:pic>
        <p:nvPicPr>
          <p:cNvPr id="20" name="図 19" descr="図形, 四角形&#10;&#10;中程度の精度で自動的に生成された説明">
            <a:extLst>
              <a:ext uri="{FF2B5EF4-FFF2-40B4-BE49-F238E27FC236}">
                <a16:creationId xmlns:a16="http://schemas.microsoft.com/office/drawing/2014/main" id="{AECF654E-E2DA-44AB-7074-E4323ED97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279" y="4494933"/>
            <a:ext cx="1608668" cy="156296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5FCE63C-C29F-AA49-367C-741EE4CD4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100" y="4368123"/>
            <a:ext cx="1371600" cy="1689100"/>
          </a:xfrm>
          <a:prstGeom prst="rect">
            <a:avLst/>
          </a:prstGeom>
        </p:spPr>
      </p:pic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3FDA2A2-4353-31E8-C977-3B9801CAAFD0}"/>
              </a:ext>
            </a:extLst>
          </p:cNvPr>
          <p:cNvCxnSpPr/>
          <p:nvPr/>
        </p:nvCxnSpPr>
        <p:spPr>
          <a:xfrm>
            <a:off x="3348694" y="31574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9E94EDF-DCD5-F043-DF67-797E1B2AE030}"/>
              </a:ext>
            </a:extLst>
          </p:cNvPr>
          <p:cNvCxnSpPr>
            <a:cxnSpLocks/>
          </p:cNvCxnSpPr>
          <p:nvPr/>
        </p:nvCxnSpPr>
        <p:spPr>
          <a:xfrm>
            <a:off x="5038222" y="5205646"/>
            <a:ext cx="178503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62810D1-34AC-B115-8B29-8A87390991A6}"/>
              </a:ext>
            </a:extLst>
          </p:cNvPr>
          <p:cNvCxnSpPr>
            <a:cxnSpLocks/>
          </p:cNvCxnSpPr>
          <p:nvPr/>
        </p:nvCxnSpPr>
        <p:spPr>
          <a:xfrm rot="10800000">
            <a:off x="8161994" y="32209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9D02D61-1D10-11C4-2685-8A968E2C57F8}"/>
              </a:ext>
            </a:extLst>
          </p:cNvPr>
          <p:cNvSpPr txBox="1"/>
          <p:nvPr/>
        </p:nvSpPr>
        <p:spPr>
          <a:xfrm>
            <a:off x="1018377" y="1264098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Arduino</a:t>
            </a:r>
            <a:r>
              <a:rPr lang="ja-JP" altLang="en-US" sz="2000"/>
              <a:t>（送信）</a:t>
            </a:r>
            <a:endParaRPr kumimoji="1" lang="ja-JP" altLang="en-US" sz="20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96E46B-10C9-8CD6-4206-A2658345AE95}"/>
              </a:ext>
            </a:extLst>
          </p:cNvPr>
          <p:cNvSpPr txBox="1"/>
          <p:nvPr/>
        </p:nvSpPr>
        <p:spPr>
          <a:xfrm>
            <a:off x="9023483" y="1193801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Arduino</a:t>
            </a:r>
            <a:r>
              <a:rPr kumimoji="1" lang="ja-JP" altLang="en-US" sz="2000"/>
              <a:t>（受信）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0B7A611-8912-AB16-CC1C-EE4272B590E1}"/>
              </a:ext>
            </a:extLst>
          </p:cNvPr>
          <p:cNvSpPr txBox="1"/>
          <p:nvPr/>
        </p:nvSpPr>
        <p:spPr>
          <a:xfrm>
            <a:off x="9023483" y="55032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マイク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7A52B86-D98A-7630-D2EA-04AB84791559}"/>
              </a:ext>
            </a:extLst>
          </p:cNvPr>
          <p:cNvSpPr txBox="1"/>
          <p:nvPr/>
        </p:nvSpPr>
        <p:spPr>
          <a:xfrm>
            <a:off x="1368451" y="55032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スピーカー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B20650-74D9-CA93-FC68-DAAE423375C0}"/>
              </a:ext>
            </a:extLst>
          </p:cNvPr>
          <p:cNvSpPr txBox="1"/>
          <p:nvPr/>
        </p:nvSpPr>
        <p:spPr>
          <a:xfrm>
            <a:off x="1374346" y="3317845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r>
              <a:rPr lang="ja-JP" altLang="en-US"/>
              <a:t>進数の数列を</a:t>
            </a:r>
            <a:endParaRPr lang="en-US" altLang="ja-JP" dirty="0"/>
          </a:p>
          <a:p>
            <a:r>
              <a:rPr kumimoji="1" lang="ja-JP" altLang="en-US"/>
              <a:t>音に変換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2722AA8-1395-1FBC-E44F-D538E2715137}"/>
              </a:ext>
            </a:extLst>
          </p:cNvPr>
          <p:cNvSpPr txBox="1"/>
          <p:nvPr/>
        </p:nvSpPr>
        <p:spPr>
          <a:xfrm>
            <a:off x="4684247" y="536472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各シンボルに対応した</a:t>
            </a:r>
            <a:endParaRPr kumimoji="1" lang="en-US" altLang="ja-JP" dirty="0"/>
          </a:p>
          <a:p>
            <a:r>
              <a:rPr kumimoji="1" lang="ja-JP" altLang="en-US"/>
              <a:t>周波数の音を出力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1F939B0-21FB-097E-DF0D-9092C4D538B1}"/>
              </a:ext>
            </a:extLst>
          </p:cNvPr>
          <p:cNvSpPr txBox="1"/>
          <p:nvPr/>
        </p:nvSpPr>
        <p:spPr>
          <a:xfrm>
            <a:off x="8902700" y="3429000"/>
            <a:ext cx="1933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周波数から</a:t>
            </a:r>
            <a:endParaRPr kumimoji="1" lang="en-US" altLang="ja-JP" dirty="0"/>
          </a:p>
          <a:p>
            <a:r>
              <a:rPr kumimoji="1" lang="en-US" altLang="ja-JP" dirty="0"/>
              <a:t>4</a:t>
            </a:r>
            <a:r>
              <a:rPr kumimoji="1" lang="ja-JP" altLang="en-US"/>
              <a:t>進数数列に変換</a:t>
            </a:r>
          </a:p>
        </p:txBody>
      </p:sp>
    </p:spTree>
    <p:extLst>
      <p:ext uri="{BB962C8B-B14F-4D97-AF65-F5344CB8AC3E}">
        <p14:creationId xmlns:p14="http://schemas.microsoft.com/office/powerpoint/2010/main" val="222959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772E-4BE0-82C3-32C8-3F69FC64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511078"/>
            <a:ext cx="9982199" cy="584776"/>
          </a:xfrm>
        </p:spPr>
        <p:txBody>
          <a:bodyPr>
            <a:normAutofit fontScale="90000"/>
          </a:bodyPr>
          <a:lstStyle/>
          <a:p>
            <a:r>
              <a:rPr kumimoji="1" lang="en-US" dirty="0" err="1"/>
              <a:t>評価方法（音通信</a:t>
            </a:r>
            <a:r>
              <a:rPr kumimoji="1" lang="en-US" dirty="0"/>
              <a:t>）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4273-BC98-55BE-6AF7-88FD790E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454A7-C407-45FF-974E-9A079D336C61}" type="datetime1">
              <a:rPr kumimoji="1" lang="ja-JP" altLang="en-US" sz="800" b="0" i="0" u="none" strike="noStrike" kern="1200" cap="all" spc="30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2025/6/29</a:t>
            </a:fld>
            <a:endParaRPr kumimoji="1" lang="en-US" sz="8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9C8B4-918A-373C-971B-D23A9519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DE1FC-E54A-4B87-A814-263D1E8654B2}" type="slidenum">
              <a: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991C26-2068-B863-A2B7-CC0F92F1A184}"/>
              </a:ext>
            </a:extLst>
          </p:cNvPr>
          <p:cNvSpPr txBox="1"/>
          <p:nvPr/>
        </p:nvSpPr>
        <p:spPr>
          <a:xfrm>
            <a:off x="1104900" y="1271184"/>
            <a:ext cx="2472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</a:t>
            </a:r>
            <a:r>
              <a:rPr kumimoji="1" lang="ja-JP" altLang="en-US" sz="3200"/>
              <a:t>．通信精度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365FB1A-DB9D-B93D-A6D1-774B0D9BC49B}"/>
              </a:ext>
            </a:extLst>
          </p:cNvPr>
          <p:cNvSpPr txBox="1"/>
          <p:nvPr/>
        </p:nvSpPr>
        <p:spPr>
          <a:xfrm>
            <a:off x="1104900" y="3272439"/>
            <a:ext cx="2472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2</a:t>
            </a:r>
            <a:r>
              <a:rPr lang="ja-JP" altLang="en-US" sz="3200"/>
              <a:t>．通信速度</a:t>
            </a:r>
            <a:endParaRPr kumimoji="1" lang="ja-JP" altLang="en-US" sz="3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BB5E58-A405-F1A9-C2CA-BB4583E585B6}"/>
              </a:ext>
            </a:extLst>
          </p:cNvPr>
          <p:cNvSpPr txBox="1"/>
          <p:nvPr/>
        </p:nvSpPr>
        <p:spPr>
          <a:xfrm>
            <a:off x="1418999" y="1853287"/>
            <a:ext cx="38779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ビット誤り率（</a:t>
            </a:r>
            <a:r>
              <a:rPr kumimoji="1" lang="en-US" altLang="ja-JP" sz="2800" dirty="0"/>
              <a:t>BER</a:t>
            </a:r>
            <a:r>
              <a:rPr kumimoji="1" lang="ja-JP" altLang="en-US" sz="2800"/>
              <a:t>）</a:t>
            </a:r>
            <a:r>
              <a:rPr lang="en-US" altLang="ja-JP" sz="2800" dirty="0"/>
              <a:t>	</a:t>
            </a:r>
          </a:p>
          <a:p>
            <a:r>
              <a:rPr lang="ja-JP" altLang="en-US" sz="2800"/>
              <a:t>目標：</a:t>
            </a:r>
            <a:r>
              <a:rPr lang="en-US" altLang="ja-JP" sz="2800" dirty="0"/>
              <a:t>0.1</a:t>
            </a:r>
            <a:r>
              <a:rPr lang="ja-JP" altLang="en-US" sz="2800"/>
              <a:t>以下</a:t>
            </a:r>
            <a:endParaRPr kumimoji="1" lang="ja-JP" altLang="en-US" sz="28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C6ED03-1986-46FB-1F6C-1601945DF942}"/>
              </a:ext>
            </a:extLst>
          </p:cNvPr>
          <p:cNvSpPr txBox="1"/>
          <p:nvPr/>
        </p:nvSpPr>
        <p:spPr>
          <a:xfrm>
            <a:off x="1418999" y="4177707"/>
            <a:ext cx="67473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受信し，変換した</a:t>
            </a:r>
            <a:r>
              <a:rPr kumimoji="1" lang="en-US" altLang="ja-JP" sz="2800" dirty="0"/>
              <a:t>2</a:t>
            </a:r>
            <a:r>
              <a:rPr kumimoji="1" lang="ja-JP" altLang="en-US" sz="2800"/>
              <a:t>進数から</a:t>
            </a:r>
            <a:r>
              <a:rPr kumimoji="1" lang="en-US" altLang="ja-JP" sz="2800" dirty="0"/>
              <a:t>bps</a:t>
            </a:r>
            <a:r>
              <a:rPr kumimoji="1" lang="ja-JP" altLang="en-US" sz="2800"/>
              <a:t>を計算</a:t>
            </a:r>
            <a:r>
              <a:rPr lang="ja-JP" altLang="en-US" sz="2800"/>
              <a:t>　</a:t>
            </a:r>
            <a:endParaRPr lang="en-US" altLang="ja-JP" sz="2800" dirty="0"/>
          </a:p>
          <a:p>
            <a:r>
              <a:rPr lang="ja-JP" altLang="en-US" sz="2800"/>
              <a:t>目標：</a:t>
            </a:r>
            <a:r>
              <a:rPr lang="en-US" altLang="ja-JP" sz="2800" dirty="0"/>
              <a:t>10bps</a:t>
            </a:r>
            <a:r>
              <a:rPr lang="ja-JP" altLang="en-US" sz="2800"/>
              <a:t>以上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49691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774087-B63F-B1F6-CCD7-90487BE2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6F30-673C-294E-ADFB-23D42197096D}" type="datetime1">
              <a:rPr lang="en-US" altLang="ja-JP" smtClean="0"/>
              <a:t>6/30/25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9E642F-998C-C7E1-4C67-D7B2E1DA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6495C6-77B5-44FB-3C24-B8E40346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4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575F08E-DA5D-E79D-B67A-311B3F53D9C7}"/>
              </a:ext>
            </a:extLst>
          </p:cNvPr>
          <p:cNvSpPr txBox="1">
            <a:spLocks/>
          </p:cNvSpPr>
          <p:nvPr/>
        </p:nvSpPr>
        <p:spPr>
          <a:xfrm>
            <a:off x="1104900" y="511078"/>
            <a:ext cx="9982199" cy="5847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dirty="0" err="1"/>
              <a:t>評価結果（音通信</a:t>
            </a:r>
            <a:r>
              <a:rPr kumimoji="1" lang="en-US" dirty="0"/>
              <a:t>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44E8D2C-C48E-A21F-2DD3-9CDFCC8FB604}"/>
              </a:ext>
            </a:extLst>
          </p:cNvPr>
          <p:cNvSpPr txBox="1"/>
          <p:nvPr/>
        </p:nvSpPr>
        <p:spPr>
          <a:xfrm>
            <a:off x="6731000" y="1365021"/>
            <a:ext cx="5274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通信精度（目標</a:t>
            </a:r>
            <a:r>
              <a:rPr lang="ja-JP" altLang="en-US" sz="3200"/>
              <a:t>：</a:t>
            </a:r>
            <a:r>
              <a:rPr lang="en-US" altLang="ja-JP" sz="3200" dirty="0"/>
              <a:t>0.1</a:t>
            </a:r>
            <a:r>
              <a:rPr lang="ja-JP" altLang="en-US" sz="3200"/>
              <a:t>以下</a:t>
            </a:r>
            <a:r>
              <a:rPr kumimoji="1" lang="ja-JP" altLang="en-US" sz="3200"/>
              <a:t>）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8F0A2FD-0E63-F083-11CC-E03EF46DFCA2}"/>
              </a:ext>
            </a:extLst>
          </p:cNvPr>
          <p:cNvSpPr txBox="1"/>
          <p:nvPr/>
        </p:nvSpPr>
        <p:spPr>
          <a:xfrm>
            <a:off x="6731000" y="3104347"/>
            <a:ext cx="5867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通信速度（目標：</a:t>
            </a:r>
            <a:r>
              <a:rPr kumimoji="1" lang="en-US" altLang="ja-JP" sz="3200" dirty="0"/>
              <a:t>10bps</a:t>
            </a:r>
            <a:r>
              <a:rPr kumimoji="1" lang="ja-JP" altLang="en-US" sz="3200"/>
              <a:t>以上）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5A52956-A0A7-851F-4D1A-376BCB8B6D2F}"/>
              </a:ext>
            </a:extLst>
          </p:cNvPr>
          <p:cNvSpPr txBox="1"/>
          <p:nvPr/>
        </p:nvSpPr>
        <p:spPr>
          <a:xfrm>
            <a:off x="7165253" y="2069791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BER </a:t>
            </a:r>
            <a:r>
              <a:rPr kumimoji="1" lang="ja-JP" altLang="en-US" sz="2800"/>
              <a:t>≒</a:t>
            </a:r>
            <a:r>
              <a:rPr kumimoji="1" lang="en-US" altLang="ja-JP" sz="2800" dirty="0"/>
              <a:t> 0.110</a:t>
            </a:r>
            <a:endParaRPr kumimoji="1" lang="ja-JP" altLang="en-US" sz="2800"/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D69BCBB8-1140-7D15-49AE-4EF02B5EC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910980"/>
              </p:ext>
            </p:extLst>
          </p:nvPr>
        </p:nvGraphicFramePr>
        <p:xfrm>
          <a:off x="457200" y="1565465"/>
          <a:ext cx="6008588" cy="4648202"/>
        </p:xfrm>
        <a:graphic>
          <a:graphicData uri="http://schemas.openxmlformats.org/drawingml/2006/table">
            <a:tbl>
              <a:tblPr/>
              <a:tblGrid>
                <a:gridCol w="662600">
                  <a:extLst>
                    <a:ext uri="{9D8B030D-6E8A-4147-A177-3AD203B41FA5}">
                      <a16:colId xmlns:a16="http://schemas.microsoft.com/office/drawing/2014/main" val="3541121337"/>
                    </a:ext>
                  </a:extLst>
                </a:gridCol>
                <a:gridCol w="783075">
                  <a:extLst>
                    <a:ext uri="{9D8B030D-6E8A-4147-A177-3AD203B41FA5}">
                      <a16:colId xmlns:a16="http://schemas.microsoft.com/office/drawing/2014/main" val="3483571719"/>
                    </a:ext>
                  </a:extLst>
                </a:gridCol>
                <a:gridCol w="1709210">
                  <a:extLst>
                    <a:ext uri="{9D8B030D-6E8A-4147-A177-3AD203B41FA5}">
                      <a16:colId xmlns:a16="http://schemas.microsoft.com/office/drawing/2014/main" val="3837331854"/>
                    </a:ext>
                  </a:extLst>
                </a:gridCol>
                <a:gridCol w="2853703">
                  <a:extLst>
                    <a:ext uri="{9D8B030D-6E8A-4147-A177-3AD203B41FA5}">
                      <a16:colId xmlns:a16="http://schemas.microsoft.com/office/drawing/2014/main" val="2726327829"/>
                    </a:ext>
                  </a:extLst>
                </a:gridCol>
              </a:tblGrid>
              <a:tr h="357554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試行回数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通信時間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受信（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4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進数）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受信（</a:t>
                      </a:r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2</a:t>
                      </a:r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進数）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774994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5.28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0564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2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5.21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13138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3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5.19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711349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4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5.21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893108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5.04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1203122021120212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1100011110100000101100100110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734614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6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5.25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094121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7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5.13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537792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8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4.75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4778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9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6.08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4009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10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5.31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59607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5.21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12031220122112021201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11000111101000110100111000101100001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71519"/>
                  </a:ext>
                </a:extLst>
              </a:tr>
              <a:tr h="3575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5.06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120312122112021201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34" charset="-128"/>
                          <a:ea typeface="游ゴシック" panose="020B0400000000000000" pitchFamily="34" charset="-128"/>
                        </a:rPr>
                        <a:t>1100011110011000101100100110</a:t>
                      </a:r>
                    </a:p>
                  </a:txBody>
                  <a:tcPr marL="6744" marR="6744" marT="6744" marB="3237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855458"/>
                  </a:ext>
                </a:extLst>
              </a:tr>
            </a:tbl>
          </a:graphicData>
        </a:graphic>
      </p:graphicFrame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273F404-0132-1BA8-FA7A-CCC12F1FEDA0}"/>
              </a:ext>
            </a:extLst>
          </p:cNvPr>
          <p:cNvSpPr txBox="1"/>
          <p:nvPr/>
        </p:nvSpPr>
        <p:spPr>
          <a:xfrm>
            <a:off x="7165253" y="3889566"/>
            <a:ext cx="31486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35 bit</a:t>
            </a:r>
            <a:r>
              <a:rPr kumimoji="1" lang="ja-JP" altLang="en-US" sz="2800"/>
              <a:t>を平均</a:t>
            </a:r>
            <a:r>
              <a:rPr kumimoji="1" lang="en-US" altLang="ja-JP" sz="2800" dirty="0"/>
              <a:t>5.23s </a:t>
            </a:r>
          </a:p>
          <a:p>
            <a:r>
              <a:rPr kumimoji="1" lang="en-US" altLang="ja-JP" sz="2800" dirty="0"/>
              <a:t>≒ 6.69 bps</a:t>
            </a:r>
            <a:endParaRPr kumimoji="1" lang="ja-JP" altLang="en-US" sz="28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EA38B83-8425-4E9E-8B7E-871C2BD03722}"/>
              </a:ext>
            </a:extLst>
          </p:cNvPr>
          <p:cNvSpPr txBox="1"/>
          <p:nvPr/>
        </p:nvSpPr>
        <p:spPr>
          <a:xfrm>
            <a:off x="653674" y="1195744"/>
            <a:ext cx="5615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表１　「</a:t>
            </a:r>
            <a:r>
              <a:rPr lang="en-US" altLang="ja-JP" sz="1600" dirty="0" err="1"/>
              <a:t>chiba</a:t>
            </a:r>
            <a:r>
              <a:rPr lang="ja-JP" altLang="en-US" sz="1600"/>
              <a:t>」と送ったときの音通信で受信したシンボル</a:t>
            </a:r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50793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577484A-2396-93F5-2772-23299ED9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EA840-023A-3848-9F9E-B765D57097DB}" type="datetime1">
              <a:rPr lang="en-US" altLang="ja-JP" smtClean="0"/>
              <a:t>6/30/25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FE6B96-D0F8-BC2F-73EA-E55ABAED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101691-CCD8-EB76-F2AB-A1F1C4BA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E2989C-ECF2-413F-4585-68989E7C3CF3}"/>
              </a:ext>
            </a:extLst>
          </p:cNvPr>
          <p:cNvSpPr txBox="1">
            <a:spLocks/>
          </p:cNvSpPr>
          <p:nvPr/>
        </p:nvSpPr>
        <p:spPr>
          <a:xfrm>
            <a:off x="1104900" y="511078"/>
            <a:ext cx="9982199" cy="5847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dirty="0" err="1"/>
              <a:t>考察（音通信</a:t>
            </a:r>
            <a:r>
              <a:rPr kumimoji="1" lang="en-US" dirty="0"/>
              <a:t>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4A4DC7-AB7A-E06C-47C6-96C40553BD3D}"/>
              </a:ext>
            </a:extLst>
          </p:cNvPr>
          <p:cNvSpPr txBox="1"/>
          <p:nvPr/>
        </p:nvSpPr>
        <p:spPr>
          <a:xfrm>
            <a:off x="1282700" y="1447800"/>
            <a:ext cx="1064906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精度：</a:t>
            </a:r>
            <a:r>
              <a:rPr lang="en-US" altLang="ja-JP" sz="2800" dirty="0"/>
              <a:t>BER </a:t>
            </a:r>
            <a:r>
              <a:rPr lang="ja-JP" altLang="en-US" sz="2800"/>
              <a:t>≒</a:t>
            </a:r>
            <a:r>
              <a:rPr lang="en-US" altLang="ja-JP" sz="2800" dirty="0"/>
              <a:t> 0.110</a:t>
            </a:r>
          </a:p>
          <a:p>
            <a:r>
              <a:rPr kumimoji="1" lang="ja-JP" altLang="en-US" sz="2400"/>
              <a:t>達成はできなかったが</a:t>
            </a:r>
            <a:r>
              <a:rPr kumimoji="1" lang="ja-JP" altLang="en-US" sz="2800"/>
              <a:t>，</a:t>
            </a:r>
            <a:r>
              <a:rPr kumimoji="1" lang="ja-JP" altLang="en-US" sz="2400"/>
              <a:t>目標に近い値にはなった．</a:t>
            </a:r>
            <a:endParaRPr kumimoji="1" lang="en-US" altLang="ja-JP" sz="2400" dirty="0"/>
          </a:p>
          <a:p>
            <a:r>
              <a:rPr kumimoji="1" lang="ja-JP" altLang="en-US" sz="2400"/>
              <a:t>周波数によって検出しやすい・しにくい距離があったため，すべてを正確に</a:t>
            </a:r>
            <a:endParaRPr kumimoji="1" lang="en-US" altLang="ja-JP" sz="2400" dirty="0"/>
          </a:p>
          <a:p>
            <a:r>
              <a:rPr lang="ja-JP" altLang="en-US" sz="2400"/>
              <a:t>検出することが難しかった．</a:t>
            </a:r>
            <a:endParaRPr kumimoji="1"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77B3D1-4C48-A5BC-550F-27E29550F54C}"/>
              </a:ext>
            </a:extLst>
          </p:cNvPr>
          <p:cNvSpPr txBox="1"/>
          <p:nvPr/>
        </p:nvSpPr>
        <p:spPr>
          <a:xfrm>
            <a:off x="1282700" y="3429000"/>
            <a:ext cx="100784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速度：</a:t>
            </a:r>
            <a:r>
              <a:rPr kumimoji="1" lang="en-US" altLang="ja-JP" sz="2800" dirty="0"/>
              <a:t>6.69bps</a:t>
            </a:r>
          </a:p>
          <a:p>
            <a:r>
              <a:rPr kumimoji="1" lang="ja-JP" altLang="en-US" sz="2400"/>
              <a:t>目標を下回ってしまった．</a:t>
            </a:r>
            <a:endParaRPr kumimoji="1" lang="en-US" altLang="ja-JP" sz="2400" dirty="0"/>
          </a:p>
          <a:p>
            <a:r>
              <a:rPr kumimoji="1" lang="ja-JP" altLang="en-US" sz="2400"/>
              <a:t>同期信号が</a:t>
            </a:r>
            <a:r>
              <a:rPr kumimoji="1" lang="en-US" altLang="ja-JP" sz="2400" dirty="0"/>
              <a:t>1</a:t>
            </a:r>
            <a:r>
              <a:rPr kumimoji="1" lang="ja-JP" altLang="en-US" sz="2400"/>
              <a:t>回ではなく</a:t>
            </a:r>
            <a:r>
              <a:rPr kumimoji="1" lang="en-US" altLang="ja-JP" sz="2400" dirty="0"/>
              <a:t>2</a:t>
            </a:r>
            <a:r>
              <a:rPr kumimoji="1" lang="ja-JP" altLang="en-US" sz="2400"/>
              <a:t>回だったのが余分に時間がかかってしまった．</a:t>
            </a:r>
            <a:endParaRPr kumimoji="1" lang="en-US" altLang="ja-JP" sz="2800" dirty="0"/>
          </a:p>
          <a:p>
            <a:endParaRPr kumimoji="1" lang="ja-JP" altLang="en-US" sz="28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9514E20-C33A-C0FC-9D68-6520943005D0}"/>
              </a:ext>
            </a:extLst>
          </p:cNvPr>
          <p:cNvSpPr txBox="1"/>
          <p:nvPr/>
        </p:nvSpPr>
        <p:spPr>
          <a:xfrm>
            <a:off x="1282700" y="5210145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音通信全体として，有効であるとはいえない</a:t>
            </a:r>
          </a:p>
        </p:txBody>
      </p:sp>
    </p:spTree>
    <p:extLst>
      <p:ext uri="{BB962C8B-B14F-4D97-AF65-F5344CB8AC3E}">
        <p14:creationId xmlns:p14="http://schemas.microsoft.com/office/powerpoint/2010/main" val="16518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1A2A13-5D91-6F19-A9ED-76EC1A08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9D88E-C53A-584F-A931-4DF0A05105E3}" type="datetime1">
              <a:rPr lang="en-US" altLang="ja-JP" smtClean="0"/>
              <a:t>6/30/25</a:t>
            </a:fld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D97B74E-6681-1CB9-5F32-920C1067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A39920-2348-F748-AC21-56DC0B91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80296A-2749-AD2F-5B00-56175B093E9F}"/>
              </a:ext>
            </a:extLst>
          </p:cNvPr>
          <p:cNvSpPr txBox="1">
            <a:spLocks/>
          </p:cNvSpPr>
          <p:nvPr/>
        </p:nvSpPr>
        <p:spPr>
          <a:xfrm>
            <a:off x="1104900" y="511078"/>
            <a:ext cx="9982199" cy="58477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dirty="0" err="1"/>
              <a:t>考察（音通信</a:t>
            </a:r>
            <a:r>
              <a:rPr kumimoji="1" lang="en-US" dirty="0"/>
              <a:t>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B9B99EC-D7C8-19B6-8A41-FD27C882841F}"/>
              </a:ext>
            </a:extLst>
          </p:cNvPr>
          <p:cNvSpPr txBox="1"/>
          <p:nvPr/>
        </p:nvSpPr>
        <p:spPr>
          <a:xfrm>
            <a:off x="1282700" y="1447800"/>
            <a:ext cx="772519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課題</a:t>
            </a:r>
            <a:endParaRPr lang="en-US" altLang="ja-JP" sz="2800" dirty="0"/>
          </a:p>
          <a:p>
            <a:r>
              <a:rPr lang="ja-JP" altLang="en-US" sz="2800"/>
              <a:t>・環境音によって通信精度が左右されてしまう</a:t>
            </a:r>
            <a:endParaRPr lang="en-US" altLang="ja-JP" sz="2800" dirty="0"/>
          </a:p>
          <a:p>
            <a:r>
              <a:rPr lang="ja-JP" altLang="en-US" sz="2800"/>
              <a:t>・あまり聞いていて心地の良い音とはいえない</a:t>
            </a:r>
            <a:endParaRPr lang="en-US" altLang="ja-JP" sz="2800" dirty="0"/>
          </a:p>
          <a:p>
            <a:r>
              <a:rPr lang="ja-JP" altLang="en-US" sz="2800"/>
              <a:t>・通信距離が短い（実験では最長</a:t>
            </a:r>
            <a:r>
              <a:rPr lang="en-US" altLang="ja-JP" sz="2800" dirty="0"/>
              <a:t>2cm</a:t>
            </a:r>
            <a:r>
              <a:rPr lang="ja-JP" altLang="en-US" sz="2800"/>
              <a:t>）</a:t>
            </a:r>
            <a:endParaRPr lang="en-US" altLang="ja-JP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C3F6FB3-105C-51B0-0865-BF1EE97C783A}"/>
              </a:ext>
            </a:extLst>
          </p:cNvPr>
          <p:cNvSpPr txBox="1"/>
          <p:nvPr/>
        </p:nvSpPr>
        <p:spPr>
          <a:xfrm>
            <a:off x="1282700" y="3936607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u="sng"/>
              <a:t>音通信として，有効なシステムとはいえない</a:t>
            </a:r>
          </a:p>
        </p:txBody>
      </p:sp>
    </p:spTree>
    <p:extLst>
      <p:ext uri="{BB962C8B-B14F-4D97-AF65-F5344CB8AC3E}">
        <p14:creationId xmlns:p14="http://schemas.microsoft.com/office/powerpoint/2010/main" val="1274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9E642F-998C-C7E1-4C67-D7B2E1DA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pic>
        <p:nvPicPr>
          <p:cNvPr id="9" name="図 8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6140DBF3-66EE-BFED-AE21-854C0569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447" y="1193801"/>
            <a:ext cx="2590800" cy="1943100"/>
          </a:xfrm>
          <a:prstGeom prst="rect">
            <a:avLst/>
          </a:prstGeom>
        </p:spPr>
      </p:pic>
      <p:pic>
        <p:nvPicPr>
          <p:cNvPr id="10" name="図 9" descr="電子機器の部品&#10;&#10;中程度の精度で自動的に生成された説明">
            <a:extLst>
              <a:ext uri="{FF2B5EF4-FFF2-40B4-BE49-F238E27FC236}">
                <a16:creationId xmlns:a16="http://schemas.microsoft.com/office/drawing/2014/main" id="{0ECDAD49-3A59-BCD6-3290-E5C9D38B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193801"/>
            <a:ext cx="2590800" cy="1943100"/>
          </a:xfrm>
          <a:prstGeom prst="rect">
            <a:avLst/>
          </a:prstGeom>
        </p:spPr>
      </p:pic>
      <p:pic>
        <p:nvPicPr>
          <p:cNvPr id="20" name="図 19" descr="図形, 四角形&#10;&#10;中程度の精度で自動的に生成された説明">
            <a:extLst>
              <a:ext uri="{FF2B5EF4-FFF2-40B4-BE49-F238E27FC236}">
                <a16:creationId xmlns:a16="http://schemas.microsoft.com/office/drawing/2014/main" id="{AECF654E-E2DA-44AB-7074-E4323ED97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279" y="4494933"/>
            <a:ext cx="1608668" cy="156296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5FCE63C-C29F-AA49-367C-741EE4CD4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100" y="4368123"/>
            <a:ext cx="1371600" cy="1689100"/>
          </a:xfrm>
          <a:prstGeom prst="rect">
            <a:avLst/>
          </a:prstGeom>
        </p:spPr>
      </p:pic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3FDA2A2-4353-31E8-C977-3B9801CAAFD0}"/>
              </a:ext>
            </a:extLst>
          </p:cNvPr>
          <p:cNvCxnSpPr/>
          <p:nvPr/>
        </p:nvCxnSpPr>
        <p:spPr>
          <a:xfrm>
            <a:off x="3348694" y="31574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9E94EDF-DCD5-F043-DF67-797E1B2AE030}"/>
              </a:ext>
            </a:extLst>
          </p:cNvPr>
          <p:cNvCxnSpPr>
            <a:cxnSpLocks/>
          </p:cNvCxnSpPr>
          <p:nvPr/>
        </p:nvCxnSpPr>
        <p:spPr>
          <a:xfrm>
            <a:off x="5038222" y="5205646"/>
            <a:ext cx="178503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62810D1-34AC-B115-8B29-8A87390991A6}"/>
              </a:ext>
            </a:extLst>
          </p:cNvPr>
          <p:cNvCxnSpPr>
            <a:cxnSpLocks/>
          </p:cNvCxnSpPr>
          <p:nvPr/>
        </p:nvCxnSpPr>
        <p:spPr>
          <a:xfrm rot="10800000">
            <a:off x="8161994" y="3220994"/>
            <a:ext cx="0" cy="1040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9D02D61-1D10-11C4-2685-8A968E2C57F8}"/>
              </a:ext>
            </a:extLst>
          </p:cNvPr>
          <p:cNvSpPr txBox="1"/>
          <p:nvPr/>
        </p:nvSpPr>
        <p:spPr>
          <a:xfrm>
            <a:off x="1018377" y="1264098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Arduino</a:t>
            </a:r>
            <a:r>
              <a:rPr lang="ja-JP" altLang="en-US" sz="2000"/>
              <a:t>（送信）</a:t>
            </a:r>
            <a:endParaRPr kumimoji="1" lang="ja-JP" altLang="en-US" sz="20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96E46B-10C9-8CD6-4206-A2658345AE95}"/>
              </a:ext>
            </a:extLst>
          </p:cNvPr>
          <p:cNvSpPr txBox="1"/>
          <p:nvPr/>
        </p:nvSpPr>
        <p:spPr>
          <a:xfrm>
            <a:off x="9023483" y="1193801"/>
            <a:ext cx="215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Arduino</a:t>
            </a:r>
            <a:r>
              <a:rPr kumimoji="1" lang="ja-JP" altLang="en-US" sz="2000"/>
              <a:t>（受信）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0B7A611-8912-AB16-CC1C-EE4272B590E1}"/>
              </a:ext>
            </a:extLst>
          </p:cNvPr>
          <p:cNvSpPr txBox="1"/>
          <p:nvPr/>
        </p:nvSpPr>
        <p:spPr>
          <a:xfrm>
            <a:off x="9023483" y="550322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マイク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7A52B86-D98A-7630-D2EA-04AB84791559}"/>
              </a:ext>
            </a:extLst>
          </p:cNvPr>
          <p:cNvSpPr txBox="1"/>
          <p:nvPr/>
        </p:nvSpPr>
        <p:spPr>
          <a:xfrm>
            <a:off x="1368451" y="55032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スピーカー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B20650-74D9-CA93-FC68-DAAE423375C0}"/>
              </a:ext>
            </a:extLst>
          </p:cNvPr>
          <p:cNvSpPr txBox="1"/>
          <p:nvPr/>
        </p:nvSpPr>
        <p:spPr>
          <a:xfrm>
            <a:off x="1374346" y="3317845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r>
              <a:rPr lang="ja-JP" altLang="en-US"/>
              <a:t>進数の数列を</a:t>
            </a:r>
            <a:endParaRPr lang="en-US" altLang="ja-JP" dirty="0"/>
          </a:p>
          <a:p>
            <a:r>
              <a:rPr kumimoji="1" lang="ja-JP" altLang="en-US"/>
              <a:t>音に変換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2722AA8-1395-1FBC-E44F-D538E2715137}"/>
              </a:ext>
            </a:extLst>
          </p:cNvPr>
          <p:cNvSpPr txBox="1"/>
          <p:nvPr/>
        </p:nvSpPr>
        <p:spPr>
          <a:xfrm>
            <a:off x="4684247" y="536472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各シンボルに対応した</a:t>
            </a:r>
            <a:endParaRPr kumimoji="1" lang="en-US" altLang="ja-JP" dirty="0"/>
          </a:p>
          <a:p>
            <a:r>
              <a:rPr kumimoji="1" lang="ja-JP" altLang="en-US"/>
              <a:t>周波数の音を出力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1F939B0-21FB-097E-DF0D-9092C4D538B1}"/>
              </a:ext>
            </a:extLst>
          </p:cNvPr>
          <p:cNvSpPr txBox="1"/>
          <p:nvPr/>
        </p:nvSpPr>
        <p:spPr>
          <a:xfrm>
            <a:off x="8902700" y="3429000"/>
            <a:ext cx="1933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周波数から</a:t>
            </a:r>
            <a:endParaRPr kumimoji="1" lang="en-US" altLang="ja-JP" dirty="0"/>
          </a:p>
          <a:p>
            <a:r>
              <a:rPr kumimoji="1" lang="en-US" altLang="ja-JP" dirty="0"/>
              <a:t>4</a:t>
            </a:r>
            <a:r>
              <a:rPr kumimoji="1" lang="ja-JP" altLang="en-US"/>
              <a:t>進数数列に変換</a:t>
            </a:r>
          </a:p>
        </p:txBody>
      </p:sp>
    </p:spTree>
    <p:extLst>
      <p:ext uri="{BB962C8B-B14F-4D97-AF65-F5344CB8AC3E}">
        <p14:creationId xmlns:p14="http://schemas.microsoft.com/office/powerpoint/2010/main" val="119028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3638</TotalTime>
  <Words>431</Words>
  <Application>Microsoft Macintosh PowerPoint</Application>
  <PresentationFormat>ワイド画面</PresentationFormat>
  <Paragraphs>127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Avenir Next LT Pro Light</vt:lpstr>
      <vt:lpstr>Office テーマ</vt:lpstr>
      <vt:lpstr>PowerPoint プレゼンテーション</vt:lpstr>
      <vt:lpstr>PowerPoint プレゼンテーション</vt:lpstr>
      <vt:lpstr>評価方法（音通信）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丈 久峩</dc:creator>
  <cp:lastModifiedBy>丈 久峩</cp:lastModifiedBy>
  <cp:revision>6</cp:revision>
  <dcterms:created xsi:type="dcterms:W3CDTF">2025-06-29T14:37:20Z</dcterms:created>
  <dcterms:modified xsi:type="dcterms:W3CDTF">2025-07-02T03:15:49Z</dcterms:modified>
</cp:coreProperties>
</file>