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61" r:id="rId2"/>
    <p:sldId id="260" r:id="rId3"/>
    <p:sldId id="258" r:id="rId4"/>
    <p:sldId id="259" r:id="rId5"/>
    <p:sldId id="262" r:id="rId6"/>
    <p:sldId id="263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43"/>
    <p:restoredTop sz="92188"/>
  </p:normalViewPr>
  <p:slideViewPr>
    <p:cSldViewPr snapToGrid="0">
      <p:cViewPr>
        <p:scale>
          <a:sx n="101" d="100"/>
          <a:sy n="101" d="100"/>
        </p:scale>
        <p:origin x="120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736A0-9F24-45BF-B389-F6478DB45C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28700"/>
            <a:ext cx="9144000" cy="2481263"/>
          </a:xfrm>
        </p:spPr>
        <p:txBody>
          <a:bodyPr anchor="b">
            <a:normAutofit/>
          </a:bodyPr>
          <a:lstStyle>
            <a:lvl1pPr algn="ctr">
              <a:lnSpc>
                <a:spcPct val="100000"/>
              </a:lnSpc>
              <a:defRPr sz="4000" spc="75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13D85EF-076F-4C35-862A-BAFF685DD6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824376"/>
            <a:ext cx="9144000" cy="1433423"/>
          </a:xfrm>
        </p:spPr>
        <p:txBody>
          <a:bodyPr>
            <a:normAutofit/>
          </a:bodyPr>
          <a:lstStyle>
            <a:lvl1pPr marL="0" indent="0" algn="ctr">
              <a:lnSpc>
                <a:spcPct val="150000"/>
              </a:lnSpc>
              <a:buNone/>
              <a:defRPr sz="1600" b="1" cap="all" spc="600" baseline="0"/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E221EC-BF54-4DDD-8900-F2027CDAD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8411FB-1606-4EC5-9BCA-2DC04C2243EA}" type="datetimeFigureOut">
              <a:rPr lang="en-US" dirty="0"/>
              <a:t>6/29/25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D5AB69-7069-48FB-8925-F2BA84129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29C32A-F7A5-4E3B-A28F-09C82341E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DE1FC-E54A-4B87-A814-263D1E8654B2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1082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E99D7-1EE5-4262-9359-A0E2B73311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793080"/>
            <a:ext cx="10240903" cy="123348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3DA1C5-272A-45C2-A11A-E7769A27D3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114939"/>
            <a:ext cx="10240903" cy="395617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63DA15-1EAB-4524-9BB7-8A7DA82A20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CAA53-8FBA-45E2-8B10-F7DD55E4E759}" type="datetimeFigureOut">
              <a:rPr lang="en-US" dirty="0"/>
              <a:t>6/29/25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EB93B9-7818-489D-AFFB-B6EAD27FF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528D36-894E-4FCB-B8BB-84DE89949B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DE1FC-E54A-4B87-A814-263D1E8654B2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6857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964F1-5687-421F-B3DF-BA3C8DADC0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0930" y="1709738"/>
            <a:ext cx="9966519" cy="2852737"/>
          </a:xfrm>
        </p:spPr>
        <p:txBody>
          <a:bodyPr anchor="b">
            <a:normAutofit/>
          </a:bodyPr>
          <a:lstStyle>
            <a:lvl1pPr>
              <a:defRPr sz="4400" spc="750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DBB876-5FD9-4964-BD37-6F05DAEBE3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80930" y="4976327"/>
            <a:ext cx="9966520" cy="1113323"/>
          </a:xfrm>
        </p:spPr>
        <p:txBody>
          <a:bodyPr>
            <a:normAutofit/>
          </a:bodyPr>
          <a:lstStyle>
            <a:lvl1pPr marL="0" indent="0">
              <a:buNone/>
              <a:defRPr sz="1200" spc="6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5EA80A-FCDD-4009-9A1F-8B5481786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8C84CF-6F0D-4195-920D-9D6F75893720}" type="datetimeFigureOut">
              <a:rPr lang="en-US" dirty="0"/>
              <a:t>6/29/25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4A3422-56D9-4942-BC63-831AED91F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D4B42A-AC2C-4FD8-AD0D-BECDD3846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DE1FC-E54A-4B87-A814-263D1E8654B2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69022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FDAF1-8359-4A0F-91B3-03E77C6705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054" y="457200"/>
            <a:ext cx="10309745" cy="1233488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21E3D3-6B33-4CA0-B06B-A8BB05CAB3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44054" y="1996141"/>
            <a:ext cx="4975746" cy="418082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29C334-815D-47FD-A9B5-E871E28641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996141"/>
            <a:ext cx="5181600" cy="418082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7975F2-7A90-4820-B90F-D28E31A35E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1B3BBE-A1CF-4CC7-B02C-EBCBBE110242}" type="datetimeFigureOut">
              <a:rPr lang="en-US" dirty="0"/>
              <a:t>6/29/25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3CFAD5-8AF8-4610-8324-85AA062E2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808CC8-C46E-4A10-8A83-7A251067E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DE1FC-E54A-4B87-A814-263D1E8654B2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92684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E82B8-F9D9-4F53-A4A6-F12EB5F128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8490" y="457200"/>
            <a:ext cx="9986898" cy="1233488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F070CA-85E9-47C7-8564-FFA1AE34B9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68490" y="1681163"/>
            <a:ext cx="462908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38D4B1-41B3-4BF5-9076-A16984A81F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368490" y="2505075"/>
            <a:ext cx="4629085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6A38DC-A016-4CFD-AC19-F24A9E0620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4816" y="1681163"/>
            <a:ext cx="501057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F930FA-8C00-42AB-B2D1-FE4E4BDB3C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4814" y="2505075"/>
            <a:ext cx="5010573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18B698E-FAE5-4F2C-AE0E-4FD281E8F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63E4-71A5-4C63-9515-748B28B89764}" type="datetimeFigureOut">
              <a:rPr lang="en-US" dirty="0"/>
              <a:t>6/29/25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5C4BB6C-CAA4-4EA8-8EA1-65ADE056F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BB6A12-0532-47CA-B070-232141CC1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DE1FC-E54A-4B87-A814-263D1E8654B2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24460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608FA1-831E-4AD6-B0D1-BA85E67A5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457200"/>
            <a:ext cx="9982199" cy="1233488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E94142-C469-4B0E-8C01-C64BA28F52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92BAC-F228-4DAC-8800-3D810F869187}" type="datetimeFigureOut">
              <a:rPr lang="en-US" dirty="0"/>
              <a:t>6/29/25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2AAFCE6-5C7E-438F-8D4A-21E155681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ACFD88-63EA-427F-978C-B7844D1A5E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DE1FC-E54A-4B87-A814-263D1E8654B2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55936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682A4F0-76A5-4852-982B-32B3B6857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EFFE8-7E8E-427A-AB26-E496551AFB7B}" type="datetimeFigureOut">
              <a:rPr lang="en-US" dirty="0"/>
              <a:t>6/29/25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750CFAE-4BEB-4272-A2E6-FDD9D6A03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3B71B7-74B7-4CF1-8FE0-F4863CD7D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DE1FC-E54A-4B87-A814-263D1E8654B2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57826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432BE-C4E5-4F12-AB53-EBEF2B76B2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755" y="457200"/>
            <a:ext cx="3932237" cy="192143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AE7F57-4ABF-4BA4-A892-38857A02F6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8130" y="987425"/>
            <a:ext cx="5707257" cy="4873625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32E444-E5BD-443F-AB83-84D7CE0AB7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318755" y="2799184"/>
            <a:ext cx="3932237" cy="3069803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1998A4-FD2F-4126-99C5-E2063AE024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DC8B19-DE76-4E18-BFC7-EB25B8C421E7}" type="datetimeFigureOut">
              <a:rPr lang="en-US" dirty="0"/>
              <a:t>6/29/25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6457D3-F808-4DB2-9C9C-B185E71F2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31BC9B-21D1-4D2D-B02E-C887A02CA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DE1FC-E54A-4B87-A814-263D1E8654B2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28684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43EC2-2D8C-4E8D-8CC7-967648014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8966" y="681135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66AF89-5FBD-43DD-958D-A5C608AE2E2C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834742" y="858417"/>
            <a:ext cx="5520645" cy="5002634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70A545-2CE6-48C4-A725-EF68A3F1BF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378966" y="2281335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4466B2-6FE6-4352-BBF9-84BCD946C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10BD94-1F69-4074-BD82-D6EDB89FE74F}" type="datetimeFigureOut">
              <a:rPr lang="en-US" dirty="0"/>
              <a:t>6/29/25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8991BC-29A5-4182-BD83-9D99D2889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C1C78F-6633-4604-8832-8E9D2DC768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DE1FC-E54A-4B87-A814-263D1E8654B2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84293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A997B-D473-47DE-8B7B-22AB6F31E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526035-4B81-4537-A22D-92C2E0DBB6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C2A44D-F637-4017-BAA2-77756A386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F3D07-6BCF-40BC-A7F7-89BB8FFE98C6}" type="datetimeFigureOut">
              <a:rPr lang="en-US" dirty="0"/>
              <a:t>6/29/25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C1DCE6-ED7D-417C-ABD4-41D61570F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AAF19A-FDAE-446A-A6B6-128F7F96A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DE1FC-E54A-4B87-A814-263D1E8654B2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69717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96D838-45E9-4D61-AA4E-92A32B579F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457199"/>
            <a:ext cx="2628900" cy="571976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3183D0-4392-4364-8A2D-C47A2AF7A8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457199"/>
            <a:ext cx="7734300" cy="5719763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4A36C9-28D5-4820-84F1-E4B9F4E50F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D16D97-0980-426F-BEA7-F6EB2DE3AC08}" type="datetimeFigureOut">
              <a:rPr lang="en-US" dirty="0"/>
              <a:t>6/29/25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97EDC8-558D-4646-86D9-A5424CF2A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0B7537-E67A-411A-BBA4-061521D3D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DE1FC-E54A-4B87-A814-263D1E8654B2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03600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D4C0BBB-0042-4603-A226-6117F3FD5B3C}"/>
              </a:ext>
            </a:extLst>
          </p:cNvPr>
          <p:cNvSpPr/>
          <p:nvPr/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14000">
                <a:schemeClr val="accent4">
                  <a:alpha val="28000"/>
                </a:schemeClr>
              </a:gs>
              <a:gs pos="100000">
                <a:schemeClr val="accent5">
                  <a:alpha val="8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C44F520-2598-460E-9F91-B02F60830CA2}"/>
              </a:ext>
            </a:extLst>
          </p:cNvPr>
          <p:cNvSpPr/>
          <p:nvPr/>
        </p:nvSpPr>
        <p:spPr>
          <a:xfrm flipH="1">
            <a:off x="4038600" y="6400799"/>
            <a:ext cx="8153398" cy="456772"/>
          </a:xfrm>
          <a:prstGeom prst="rect">
            <a:avLst/>
          </a:prstGeom>
          <a:gradFill>
            <a:gsLst>
              <a:gs pos="9000">
                <a:schemeClr val="accent2">
                  <a:lumMod val="60000"/>
                  <a:lumOff val="40000"/>
                  <a:alpha val="55000"/>
                </a:schemeClr>
              </a:gs>
              <a:gs pos="99000">
                <a:schemeClr val="accent2"/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478F2F-4F04-4604-9005-BF0CB1142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61666"/>
            <a:ext cx="9810376" cy="1659404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4A17D2-52AF-4B40-80A8-3E0DB855F2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810376" cy="385781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92E0AA-D5B3-4BCF-BA69-209D9B335A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910111" y="6409170"/>
            <a:ext cx="3702392" cy="44883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cap="all" spc="300" baseline="0">
                <a:solidFill>
                  <a:schemeClr val="bg1"/>
                </a:solidFill>
              </a:defRPr>
            </a:lvl1pPr>
          </a:lstStyle>
          <a:p>
            <a:fld id="{149C728D-416F-40D5-8F13-55E5DD1CE8D1}" type="datetimeFigureOut">
              <a:rPr lang="en-US" dirty="0"/>
              <a:t>6/29/25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A637-D86F-4FA1-985D-2D82456511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-1828801" y="1912217"/>
            <a:ext cx="4114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F2FA4D-A931-46BA-B767-29A6FD5AAD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69678" y="6408742"/>
            <a:ext cx="438652" cy="44883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fld id="{017DE1FC-E54A-4B87-A814-263D1E8654B2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75036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600" b="1" i="0" kern="1200" cap="all" spc="7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88">
          <p15:clr>
            <a:srgbClr val="F26B43"/>
          </p15:clr>
        </p15:guide>
        <p15:guide id="4" pos="288">
          <p15:clr>
            <a:srgbClr val="F26B43"/>
          </p15:clr>
        </p15:guide>
        <p15:guide id="5" orient="horz" pos="4032">
          <p15:clr>
            <a:srgbClr val="F26B43"/>
          </p15:clr>
        </p15:guide>
        <p15:guide id="6" pos="7392">
          <p15:clr>
            <a:srgbClr val="F26B43"/>
          </p15:clr>
        </p15:guide>
        <p15:guide id="7" pos="5112">
          <p15:clr>
            <a:srgbClr val="F26B43"/>
          </p15:clr>
        </p15:guide>
        <p15:guide id="8" pos="2544">
          <p15:clr>
            <a:srgbClr val="F26B43"/>
          </p15:clr>
        </p15:guide>
        <p15:guide id="9" pos="864">
          <p15:clr>
            <a:srgbClr val="F26B43"/>
          </p15:clr>
        </p15:guide>
        <p15:guide id="10" orient="horz" pos="648">
          <p15:clr>
            <a:srgbClr val="F26B43"/>
          </p15:clr>
        </p15:guide>
        <p15:guide id="11" pos="681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A2A15BD-1A85-1A00-32E1-800618CA7B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2D118-BB3D-0144-A1E3-D40F8A034372}" type="datetime1">
              <a:rPr lang="en-US" altLang="ja-JP" smtClean="0"/>
              <a:t>6/30/25</a:t>
            </a:fld>
            <a:endParaRPr lang="en-US" dirty="0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6A9841A-F901-903A-7453-F7D696291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80FA835-A8CD-0705-0093-0C2144021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DE1FC-E54A-4B87-A814-263D1E8654B2}" type="slidenum">
              <a:rPr lang="en-US" smtClean="0"/>
              <a:t>1</a:t>
            </a:fld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A30115A-5E80-5279-FA8F-F78AC1CB4111}"/>
              </a:ext>
            </a:extLst>
          </p:cNvPr>
          <p:cNvSpPr txBox="1">
            <a:spLocks/>
          </p:cNvSpPr>
          <p:nvPr/>
        </p:nvSpPr>
        <p:spPr>
          <a:xfrm>
            <a:off x="1104900" y="511078"/>
            <a:ext cx="9982199" cy="584776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b="1" i="0" kern="1200" cap="all" spc="7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/>
              <a:t>提案システム</a:t>
            </a:r>
            <a:r>
              <a:rPr kumimoji="1" lang="en-US" dirty="0" err="1"/>
              <a:t>（音通信</a:t>
            </a:r>
            <a:r>
              <a:rPr kumimoji="1" lang="en-US" dirty="0"/>
              <a:t>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7C11ECD-C029-750C-BB0B-B3AB7BAE788A}"/>
              </a:ext>
            </a:extLst>
          </p:cNvPr>
          <p:cNvSpPr txBox="1"/>
          <p:nvPr/>
        </p:nvSpPr>
        <p:spPr>
          <a:xfrm>
            <a:off x="1106011" y="14351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/>
              <a:t>送信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9D99C59-71C4-C004-9D9B-9843D8536B2A}"/>
              </a:ext>
            </a:extLst>
          </p:cNvPr>
          <p:cNvSpPr txBox="1"/>
          <p:nvPr/>
        </p:nvSpPr>
        <p:spPr>
          <a:xfrm>
            <a:off x="1524000" y="2146300"/>
            <a:ext cx="10092828" cy="16927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600"/>
              <a:t>・同期信号を２回鳴らすことで通信の開始，終了を示す</a:t>
            </a:r>
            <a:endParaRPr kumimoji="1" lang="en-US" altLang="ja-JP" sz="2600" dirty="0"/>
          </a:p>
          <a:p>
            <a:endParaRPr kumimoji="1" lang="en-US" altLang="ja-JP" sz="2600" dirty="0"/>
          </a:p>
          <a:p>
            <a:r>
              <a:rPr kumimoji="1" lang="ja-JP" altLang="en-US" sz="2600"/>
              <a:t>・４進数の数列を</a:t>
            </a:r>
            <a:r>
              <a:rPr kumimoji="1" lang="en-US" altLang="ja-JP" sz="2600" dirty="0"/>
              <a:t>2</a:t>
            </a:r>
            <a:r>
              <a:rPr kumimoji="1" lang="ja-JP" altLang="en-US" sz="2600"/>
              <a:t>桁に区切り，各シンボルを</a:t>
            </a:r>
            <a:r>
              <a:rPr kumimoji="1" lang="en-US" altLang="ja-JP" sz="2600" dirty="0"/>
              <a:t>16</a:t>
            </a:r>
            <a:r>
              <a:rPr kumimoji="1" lang="ja-JP" altLang="en-US" sz="2600"/>
              <a:t>音程を用いて送信</a:t>
            </a:r>
            <a:endParaRPr kumimoji="1" lang="en-US" altLang="ja-JP" sz="2600" dirty="0"/>
          </a:p>
          <a:p>
            <a:endParaRPr kumimoji="1" lang="en-US" altLang="ja-JP" sz="26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3FB7F223-C1AC-AE5D-08FE-B286167B2DF2}"/>
              </a:ext>
            </a:extLst>
          </p:cNvPr>
          <p:cNvSpPr txBox="1"/>
          <p:nvPr/>
        </p:nvSpPr>
        <p:spPr>
          <a:xfrm>
            <a:off x="1072594" y="3839071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800"/>
              <a:t>受信</a:t>
            </a:r>
            <a:endParaRPr kumimoji="1" lang="ja-JP" altLang="en-US" sz="280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75E08B99-21C2-2F0E-69D4-A39F15CEF44E}"/>
              </a:ext>
            </a:extLst>
          </p:cNvPr>
          <p:cNvSpPr txBox="1"/>
          <p:nvPr/>
        </p:nvSpPr>
        <p:spPr>
          <a:xfrm>
            <a:off x="1562100" y="4368800"/>
            <a:ext cx="9568645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600"/>
              <a:t>・マイクで音を拾い周波数を検知し，対応する</a:t>
            </a:r>
            <a:r>
              <a:rPr kumimoji="1" lang="en-US" altLang="ja-JP" sz="2600" dirty="0"/>
              <a:t>4</a:t>
            </a:r>
            <a:r>
              <a:rPr kumimoji="1" lang="ja-JP" altLang="en-US" sz="2600"/>
              <a:t>進数</a:t>
            </a:r>
            <a:r>
              <a:rPr kumimoji="1" lang="en-US" altLang="ja-JP" sz="2600" dirty="0"/>
              <a:t>2</a:t>
            </a:r>
            <a:r>
              <a:rPr kumimoji="1" lang="ja-JP" altLang="en-US" sz="2600"/>
              <a:t>桁を取得</a:t>
            </a:r>
            <a:endParaRPr kumimoji="1" lang="en-US" altLang="ja-JP" sz="2600" dirty="0"/>
          </a:p>
        </p:txBody>
      </p:sp>
    </p:spTree>
    <p:extLst>
      <p:ext uri="{BB962C8B-B14F-4D97-AF65-F5344CB8AC3E}">
        <p14:creationId xmlns:p14="http://schemas.microsoft.com/office/powerpoint/2010/main" val="2775817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5774087-B63F-B1F6-CCD7-90487BE27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EE6F30-673C-294E-ADFB-23D42197096D}" type="datetime1">
              <a:rPr lang="en-US" altLang="ja-JP" smtClean="0"/>
              <a:t>6/30/25</a:t>
            </a:fld>
            <a:endParaRPr lang="en-US" dirty="0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829E642F-998C-C7E1-4C67-D7B2E1DA3D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76495C6-77B5-44FB-3C24-B8E40346CD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DE1FC-E54A-4B87-A814-263D1E8654B2}" type="slidenum">
              <a:rPr lang="en-US" smtClean="0"/>
              <a:t>2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C56362A-A99F-B798-17AB-EA7F0F354684}"/>
              </a:ext>
            </a:extLst>
          </p:cNvPr>
          <p:cNvSpPr txBox="1">
            <a:spLocks/>
          </p:cNvSpPr>
          <p:nvPr/>
        </p:nvSpPr>
        <p:spPr>
          <a:xfrm>
            <a:off x="1104900" y="511078"/>
            <a:ext cx="9982199" cy="584776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b="1" i="0" kern="1200" cap="all" spc="7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/>
              <a:t>提案システムの構成図</a:t>
            </a:r>
            <a:r>
              <a:rPr kumimoji="1" lang="en-US" dirty="0" err="1"/>
              <a:t>（音通信</a:t>
            </a:r>
            <a:r>
              <a:rPr kumimoji="1" lang="en-US" dirty="0"/>
              <a:t>）</a:t>
            </a:r>
          </a:p>
        </p:txBody>
      </p:sp>
      <p:pic>
        <p:nvPicPr>
          <p:cNvPr id="9" name="図 8" descr="電子機器の部品&#10;&#10;中程度の精度で自動的に生成された説明">
            <a:extLst>
              <a:ext uri="{FF2B5EF4-FFF2-40B4-BE49-F238E27FC236}">
                <a16:creationId xmlns:a16="http://schemas.microsoft.com/office/drawing/2014/main" id="{6140DBF3-66EE-BFED-AE21-854C05691C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3447" y="1193801"/>
            <a:ext cx="2590800" cy="1943100"/>
          </a:xfrm>
          <a:prstGeom prst="rect">
            <a:avLst/>
          </a:prstGeom>
        </p:spPr>
      </p:pic>
      <p:pic>
        <p:nvPicPr>
          <p:cNvPr id="10" name="図 9" descr="電子機器の部品&#10;&#10;中程度の精度で自動的に生成された説明">
            <a:extLst>
              <a:ext uri="{FF2B5EF4-FFF2-40B4-BE49-F238E27FC236}">
                <a16:creationId xmlns:a16="http://schemas.microsoft.com/office/drawing/2014/main" id="{0ECDAD49-3A59-BCD6-3290-E5C9D38B9C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1500" y="1193801"/>
            <a:ext cx="2590800" cy="1943100"/>
          </a:xfrm>
          <a:prstGeom prst="rect">
            <a:avLst/>
          </a:prstGeom>
        </p:spPr>
      </p:pic>
      <p:pic>
        <p:nvPicPr>
          <p:cNvPr id="20" name="図 19" descr="図形, 四角形&#10;&#10;中程度の精度で自動的に生成された説明">
            <a:extLst>
              <a:ext uri="{FF2B5EF4-FFF2-40B4-BE49-F238E27FC236}">
                <a16:creationId xmlns:a16="http://schemas.microsoft.com/office/drawing/2014/main" id="{AECF654E-E2DA-44AB-7074-E4323ED976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7279" y="4494933"/>
            <a:ext cx="1608668" cy="1562967"/>
          </a:xfrm>
          <a:prstGeom prst="rect">
            <a:avLst/>
          </a:prstGeom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75FCE63C-C29F-AA49-367C-741EE4CD4B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1100" y="4368123"/>
            <a:ext cx="1371600" cy="1689100"/>
          </a:xfrm>
          <a:prstGeom prst="rect">
            <a:avLst/>
          </a:prstGeom>
        </p:spPr>
      </p:pic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53FDA2A2-4353-31E8-C977-3B9801CAAFD0}"/>
              </a:ext>
            </a:extLst>
          </p:cNvPr>
          <p:cNvCxnSpPr/>
          <p:nvPr/>
        </p:nvCxnSpPr>
        <p:spPr>
          <a:xfrm>
            <a:off x="3348694" y="3157494"/>
            <a:ext cx="0" cy="1040723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79E94EDF-DCD5-F043-DF67-797E1B2AE030}"/>
              </a:ext>
            </a:extLst>
          </p:cNvPr>
          <p:cNvCxnSpPr>
            <a:cxnSpLocks/>
          </p:cNvCxnSpPr>
          <p:nvPr/>
        </p:nvCxnSpPr>
        <p:spPr>
          <a:xfrm>
            <a:off x="5038222" y="5205646"/>
            <a:ext cx="1785039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062810D1-34AC-B115-8B29-8A87390991A6}"/>
              </a:ext>
            </a:extLst>
          </p:cNvPr>
          <p:cNvCxnSpPr>
            <a:cxnSpLocks/>
          </p:cNvCxnSpPr>
          <p:nvPr/>
        </p:nvCxnSpPr>
        <p:spPr>
          <a:xfrm rot="10800000">
            <a:off x="8161994" y="3220994"/>
            <a:ext cx="0" cy="1040723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99D02D61-1D10-11C4-2685-8A968E2C57F8}"/>
              </a:ext>
            </a:extLst>
          </p:cNvPr>
          <p:cNvSpPr txBox="1"/>
          <p:nvPr/>
        </p:nvSpPr>
        <p:spPr>
          <a:xfrm>
            <a:off x="1018377" y="1264098"/>
            <a:ext cx="21501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/>
              <a:t>Arduino</a:t>
            </a:r>
            <a:r>
              <a:rPr lang="ja-JP" altLang="en-US" sz="2000"/>
              <a:t>（送信）</a:t>
            </a:r>
            <a:endParaRPr kumimoji="1" lang="ja-JP" altLang="en-US" sz="2000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6A96E46B-10C9-8CD6-4206-A2658345AE95}"/>
              </a:ext>
            </a:extLst>
          </p:cNvPr>
          <p:cNvSpPr txBox="1"/>
          <p:nvPr/>
        </p:nvSpPr>
        <p:spPr>
          <a:xfrm>
            <a:off x="9023483" y="1193801"/>
            <a:ext cx="21501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000" dirty="0"/>
              <a:t>Arduino</a:t>
            </a:r>
            <a:r>
              <a:rPr kumimoji="1" lang="ja-JP" altLang="en-US" sz="2000"/>
              <a:t>（受信）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70B7A611-8912-AB16-CC1C-EE4272B590E1}"/>
              </a:ext>
            </a:extLst>
          </p:cNvPr>
          <p:cNvSpPr txBox="1"/>
          <p:nvPr/>
        </p:nvSpPr>
        <p:spPr>
          <a:xfrm>
            <a:off x="9023483" y="550322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マイク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37A52B86-D98A-7630-D2EA-04AB84791559}"/>
              </a:ext>
            </a:extLst>
          </p:cNvPr>
          <p:cNvSpPr txBox="1"/>
          <p:nvPr/>
        </p:nvSpPr>
        <p:spPr>
          <a:xfrm>
            <a:off x="1368451" y="5503225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スピーカー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CCB20650-74D9-CA93-FC68-DAAE423375C0}"/>
              </a:ext>
            </a:extLst>
          </p:cNvPr>
          <p:cNvSpPr txBox="1"/>
          <p:nvPr/>
        </p:nvSpPr>
        <p:spPr>
          <a:xfrm>
            <a:off x="1374346" y="3317845"/>
            <a:ext cx="17027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4</a:t>
            </a:r>
            <a:r>
              <a:rPr lang="ja-JP" altLang="en-US"/>
              <a:t>進数の数列を</a:t>
            </a:r>
            <a:endParaRPr lang="en-US" altLang="ja-JP" dirty="0"/>
          </a:p>
          <a:p>
            <a:r>
              <a:rPr kumimoji="1" lang="ja-JP" altLang="en-US"/>
              <a:t>音に変換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52722AA8-1395-1FBC-E44F-D538E2715137}"/>
              </a:ext>
            </a:extLst>
          </p:cNvPr>
          <p:cNvSpPr txBox="1"/>
          <p:nvPr/>
        </p:nvSpPr>
        <p:spPr>
          <a:xfrm>
            <a:off x="4684247" y="5364725"/>
            <a:ext cx="24929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各シンボルに対応した</a:t>
            </a:r>
            <a:endParaRPr kumimoji="1" lang="en-US" altLang="ja-JP" dirty="0"/>
          </a:p>
          <a:p>
            <a:r>
              <a:rPr kumimoji="1" lang="ja-JP" altLang="en-US"/>
              <a:t>周波数の音を出力</a:t>
            </a: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A1F939B0-21FB-097E-DF0D-9092C4D538B1}"/>
              </a:ext>
            </a:extLst>
          </p:cNvPr>
          <p:cNvSpPr txBox="1"/>
          <p:nvPr/>
        </p:nvSpPr>
        <p:spPr>
          <a:xfrm>
            <a:off x="8902700" y="3429000"/>
            <a:ext cx="19335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周波数から</a:t>
            </a:r>
            <a:endParaRPr kumimoji="1" lang="en-US" altLang="ja-JP" dirty="0"/>
          </a:p>
          <a:p>
            <a:r>
              <a:rPr kumimoji="1" lang="en-US" altLang="ja-JP" dirty="0"/>
              <a:t>4</a:t>
            </a:r>
            <a:r>
              <a:rPr kumimoji="1" lang="ja-JP" altLang="en-US"/>
              <a:t>進数数列に変換</a:t>
            </a:r>
          </a:p>
        </p:txBody>
      </p:sp>
    </p:spTree>
    <p:extLst>
      <p:ext uri="{BB962C8B-B14F-4D97-AF65-F5344CB8AC3E}">
        <p14:creationId xmlns:p14="http://schemas.microsoft.com/office/powerpoint/2010/main" val="2229596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F772E-4BE0-82C3-32C8-3F69FC64A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4900" y="511078"/>
            <a:ext cx="9982199" cy="584776"/>
          </a:xfrm>
        </p:spPr>
        <p:txBody>
          <a:bodyPr/>
          <a:lstStyle/>
          <a:p>
            <a:r>
              <a:rPr kumimoji="1" lang="en-US" dirty="0" err="1"/>
              <a:t>評価方法（音通信</a:t>
            </a:r>
            <a:r>
              <a:rPr kumimoji="1" lang="en-US" dirty="0"/>
              <a:t>）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7B4273-BC98-55BE-6AF7-88FD790E55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4454A7-C407-45FF-974E-9A079D336C61}" type="datetime1">
              <a:rPr kumimoji="1" lang="ja-JP" altLang="en-US" sz="800" b="0" i="0" u="none" strike="noStrike" kern="1200" cap="all" spc="30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2025/6/29</a:t>
            </a:fld>
            <a:endParaRPr kumimoji="1" lang="en-US" sz="800" b="0" i="0" u="none" strike="noStrike" kern="1200" cap="all" spc="3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venir Next LT Pro Light"/>
              <a:ea typeface="+mn-ea"/>
              <a:cs typeface="+mn-c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59C8B4-918A-373C-971B-D23A9519D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17DE1FC-E54A-4B87-A814-263D1E8654B2}" type="slidenum">
              <a:rPr kumimoji="1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1" lang="en-US" sz="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venir Next LT Pro Light"/>
              <a:ea typeface="+mn-ea"/>
              <a:cs typeface="+mn-cs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A9991C26-2068-B863-A2B7-CC0F92F1A184}"/>
              </a:ext>
            </a:extLst>
          </p:cNvPr>
          <p:cNvSpPr txBox="1"/>
          <p:nvPr/>
        </p:nvSpPr>
        <p:spPr>
          <a:xfrm>
            <a:off x="1104900" y="1271184"/>
            <a:ext cx="24721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dirty="0"/>
              <a:t>1</a:t>
            </a:r>
            <a:r>
              <a:rPr kumimoji="1" lang="ja-JP" altLang="en-US" sz="3200"/>
              <a:t>．通信精度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2365FB1A-DB9D-B93D-A6D1-774B0D9BC49B}"/>
              </a:ext>
            </a:extLst>
          </p:cNvPr>
          <p:cNvSpPr txBox="1"/>
          <p:nvPr/>
        </p:nvSpPr>
        <p:spPr>
          <a:xfrm>
            <a:off x="1104900" y="3272439"/>
            <a:ext cx="24721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3200" dirty="0"/>
              <a:t>2</a:t>
            </a:r>
            <a:r>
              <a:rPr lang="ja-JP" altLang="en-US" sz="3200"/>
              <a:t>．通信速度</a:t>
            </a:r>
            <a:endParaRPr kumimoji="1" lang="ja-JP" altLang="en-US" sz="320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3FBB5E58-A405-F1A9-C2CA-BB4583E585B6}"/>
              </a:ext>
            </a:extLst>
          </p:cNvPr>
          <p:cNvSpPr txBox="1"/>
          <p:nvPr/>
        </p:nvSpPr>
        <p:spPr>
          <a:xfrm>
            <a:off x="1418999" y="1853287"/>
            <a:ext cx="387798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/>
              <a:t>ビット誤り率（</a:t>
            </a:r>
            <a:r>
              <a:rPr kumimoji="1" lang="en-US" altLang="ja-JP" sz="2800" dirty="0"/>
              <a:t>BER</a:t>
            </a:r>
            <a:r>
              <a:rPr kumimoji="1" lang="ja-JP" altLang="en-US" sz="2800"/>
              <a:t>）</a:t>
            </a:r>
            <a:r>
              <a:rPr lang="en-US" altLang="ja-JP" sz="2800" dirty="0"/>
              <a:t>	</a:t>
            </a:r>
          </a:p>
          <a:p>
            <a:r>
              <a:rPr lang="ja-JP" altLang="en-US" sz="2800"/>
              <a:t>目標：</a:t>
            </a:r>
            <a:r>
              <a:rPr lang="en-US" altLang="ja-JP" sz="2800" dirty="0"/>
              <a:t>0.1</a:t>
            </a:r>
            <a:r>
              <a:rPr lang="ja-JP" altLang="en-US" sz="2800"/>
              <a:t>以下</a:t>
            </a:r>
            <a:endParaRPr kumimoji="1" lang="ja-JP" altLang="en-US" sz="2800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23C6ED03-1986-46FB-1F6C-1601945DF942}"/>
              </a:ext>
            </a:extLst>
          </p:cNvPr>
          <p:cNvSpPr txBox="1"/>
          <p:nvPr/>
        </p:nvSpPr>
        <p:spPr>
          <a:xfrm>
            <a:off x="1418999" y="4177707"/>
            <a:ext cx="674736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/>
              <a:t>受信し，変換した</a:t>
            </a:r>
            <a:r>
              <a:rPr kumimoji="1" lang="en-US" altLang="ja-JP" sz="2800" dirty="0"/>
              <a:t>2</a:t>
            </a:r>
            <a:r>
              <a:rPr kumimoji="1" lang="ja-JP" altLang="en-US" sz="2800"/>
              <a:t>進数から</a:t>
            </a:r>
            <a:r>
              <a:rPr kumimoji="1" lang="en-US" altLang="ja-JP" sz="2800" dirty="0"/>
              <a:t>bps</a:t>
            </a:r>
            <a:r>
              <a:rPr kumimoji="1" lang="ja-JP" altLang="en-US" sz="2800"/>
              <a:t>を計算</a:t>
            </a:r>
            <a:r>
              <a:rPr lang="ja-JP" altLang="en-US" sz="2800"/>
              <a:t>　</a:t>
            </a:r>
            <a:endParaRPr lang="en-US" altLang="ja-JP" sz="2800" dirty="0"/>
          </a:p>
          <a:p>
            <a:r>
              <a:rPr lang="ja-JP" altLang="en-US" sz="2800"/>
              <a:t>目標：</a:t>
            </a:r>
            <a:r>
              <a:rPr lang="en-US" altLang="ja-JP" sz="2800" dirty="0"/>
              <a:t>10bps</a:t>
            </a:r>
            <a:r>
              <a:rPr lang="ja-JP" altLang="en-US" sz="2800"/>
              <a:t>以上</a:t>
            </a:r>
            <a:endParaRPr kumimoji="1" lang="ja-JP" altLang="en-US" sz="2800"/>
          </a:p>
        </p:txBody>
      </p:sp>
    </p:spTree>
    <p:extLst>
      <p:ext uri="{BB962C8B-B14F-4D97-AF65-F5344CB8AC3E}">
        <p14:creationId xmlns:p14="http://schemas.microsoft.com/office/powerpoint/2010/main" val="34969148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5774087-B63F-B1F6-CCD7-90487BE27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EE6F30-673C-294E-ADFB-23D42197096D}" type="datetime1">
              <a:rPr lang="en-US" altLang="ja-JP" smtClean="0"/>
              <a:t>6/30/25</a:t>
            </a:fld>
            <a:endParaRPr lang="en-US" dirty="0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829E642F-998C-C7E1-4C67-D7B2E1DA3D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76495C6-77B5-44FB-3C24-B8E40346CD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DE1FC-E54A-4B87-A814-263D1E8654B2}" type="slidenum">
              <a:rPr lang="en-US" smtClean="0"/>
              <a:t>4</a:t>
            </a:fld>
            <a:endParaRPr lang="en-US" dirty="0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F575F08E-DA5D-E79D-B67A-311B3F53D9C7}"/>
              </a:ext>
            </a:extLst>
          </p:cNvPr>
          <p:cNvSpPr txBox="1">
            <a:spLocks/>
          </p:cNvSpPr>
          <p:nvPr/>
        </p:nvSpPr>
        <p:spPr>
          <a:xfrm>
            <a:off x="1104900" y="511078"/>
            <a:ext cx="9982199" cy="584776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b="1" i="0" kern="1200" cap="all" spc="7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kumimoji="1" lang="en-US" dirty="0" err="1"/>
              <a:t>評価結果（音通信</a:t>
            </a:r>
            <a:r>
              <a:rPr kumimoji="1" lang="en-US" dirty="0"/>
              <a:t>）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644E8D2C-C48E-A21F-2DD3-9CDFCC8FB604}"/>
              </a:ext>
            </a:extLst>
          </p:cNvPr>
          <p:cNvSpPr txBox="1"/>
          <p:nvPr/>
        </p:nvSpPr>
        <p:spPr>
          <a:xfrm>
            <a:off x="6731000" y="1365021"/>
            <a:ext cx="52742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/>
              <a:t>通信精度（目標</a:t>
            </a:r>
            <a:r>
              <a:rPr lang="ja-JP" altLang="en-US" sz="3200"/>
              <a:t>：</a:t>
            </a:r>
            <a:r>
              <a:rPr lang="en-US" altLang="ja-JP" sz="3200" dirty="0"/>
              <a:t>0.1</a:t>
            </a:r>
            <a:r>
              <a:rPr lang="ja-JP" altLang="en-US" sz="3200"/>
              <a:t>以下</a:t>
            </a:r>
            <a:r>
              <a:rPr kumimoji="1" lang="ja-JP" altLang="en-US" sz="3200"/>
              <a:t>）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A8F0A2FD-0E63-F083-11CC-E03EF46DFCA2}"/>
              </a:ext>
            </a:extLst>
          </p:cNvPr>
          <p:cNvSpPr txBox="1"/>
          <p:nvPr/>
        </p:nvSpPr>
        <p:spPr>
          <a:xfrm>
            <a:off x="6731000" y="3104347"/>
            <a:ext cx="586731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/>
              <a:t>通信速度（目標：</a:t>
            </a:r>
            <a:r>
              <a:rPr kumimoji="1" lang="en-US" altLang="ja-JP" sz="3200" dirty="0"/>
              <a:t>10bps</a:t>
            </a:r>
            <a:r>
              <a:rPr kumimoji="1" lang="ja-JP" altLang="en-US" sz="3200"/>
              <a:t>以上）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25A52956-A0A7-851F-4D1A-376BCB8B6D2F}"/>
              </a:ext>
            </a:extLst>
          </p:cNvPr>
          <p:cNvSpPr txBox="1"/>
          <p:nvPr/>
        </p:nvSpPr>
        <p:spPr>
          <a:xfrm>
            <a:off x="7165253" y="2069791"/>
            <a:ext cx="22028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dirty="0"/>
              <a:t>BER </a:t>
            </a:r>
            <a:r>
              <a:rPr kumimoji="1" lang="ja-JP" altLang="en-US" sz="2800"/>
              <a:t>≒</a:t>
            </a:r>
            <a:r>
              <a:rPr kumimoji="1" lang="en-US" altLang="ja-JP" sz="2800" dirty="0"/>
              <a:t> 0.110</a:t>
            </a:r>
            <a:endParaRPr kumimoji="1" lang="ja-JP" altLang="en-US" sz="2800"/>
          </a:p>
        </p:txBody>
      </p:sp>
      <p:graphicFrame>
        <p:nvGraphicFramePr>
          <p:cNvPr id="29" name="表 28">
            <a:extLst>
              <a:ext uri="{FF2B5EF4-FFF2-40B4-BE49-F238E27FC236}">
                <a16:creationId xmlns:a16="http://schemas.microsoft.com/office/drawing/2014/main" id="{D69BCBB8-1140-7D15-49AE-4EF02B5EC6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9910980"/>
              </p:ext>
            </p:extLst>
          </p:nvPr>
        </p:nvGraphicFramePr>
        <p:xfrm>
          <a:off x="457200" y="1565465"/>
          <a:ext cx="6008588" cy="4648202"/>
        </p:xfrm>
        <a:graphic>
          <a:graphicData uri="http://schemas.openxmlformats.org/drawingml/2006/table">
            <a:tbl>
              <a:tblPr/>
              <a:tblGrid>
                <a:gridCol w="662600">
                  <a:extLst>
                    <a:ext uri="{9D8B030D-6E8A-4147-A177-3AD203B41FA5}">
                      <a16:colId xmlns:a16="http://schemas.microsoft.com/office/drawing/2014/main" val="3541121337"/>
                    </a:ext>
                  </a:extLst>
                </a:gridCol>
                <a:gridCol w="783075">
                  <a:extLst>
                    <a:ext uri="{9D8B030D-6E8A-4147-A177-3AD203B41FA5}">
                      <a16:colId xmlns:a16="http://schemas.microsoft.com/office/drawing/2014/main" val="3483571719"/>
                    </a:ext>
                  </a:extLst>
                </a:gridCol>
                <a:gridCol w="1709210">
                  <a:extLst>
                    <a:ext uri="{9D8B030D-6E8A-4147-A177-3AD203B41FA5}">
                      <a16:colId xmlns:a16="http://schemas.microsoft.com/office/drawing/2014/main" val="3837331854"/>
                    </a:ext>
                  </a:extLst>
                </a:gridCol>
                <a:gridCol w="2853703">
                  <a:extLst>
                    <a:ext uri="{9D8B030D-6E8A-4147-A177-3AD203B41FA5}">
                      <a16:colId xmlns:a16="http://schemas.microsoft.com/office/drawing/2014/main" val="2726327829"/>
                    </a:ext>
                  </a:extLst>
                </a:gridCol>
              </a:tblGrid>
              <a:tr h="357554"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試行回数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通信時間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受信（</a:t>
                      </a:r>
                      <a:r>
                        <a:rPr lang="en-US" altLang="ja-JP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4</a:t>
                      </a:r>
                      <a:r>
                        <a:rPr lang="ja-JP" alt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進数）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ja-JP" alt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受信（</a:t>
                      </a:r>
                      <a:r>
                        <a:rPr lang="en-US" altLang="ja-JP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2</a:t>
                      </a:r>
                      <a:r>
                        <a:rPr lang="ja-JP" alt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進数）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2774994"/>
                  </a:ext>
                </a:extLst>
              </a:tr>
              <a:tr h="357554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1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5.28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12031220122112021201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11000111101000110100111000101100001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30564"/>
                  </a:ext>
                </a:extLst>
              </a:tr>
              <a:tr h="357554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2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5.21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12031220122112021201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11000111101000110100111000101100001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7313138"/>
                  </a:ext>
                </a:extLst>
              </a:tr>
              <a:tr h="357554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3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5.19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12031220122112021201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11000111101000110100111000101100001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2711349"/>
                  </a:ext>
                </a:extLst>
              </a:tr>
              <a:tr h="357554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4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5.21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12031220122112021201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11000111101000110100111000101100001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8893108"/>
                  </a:ext>
                </a:extLst>
              </a:tr>
              <a:tr h="357554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5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5.04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1203122021120212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1100011110100000101100100110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7734614"/>
                  </a:ext>
                </a:extLst>
              </a:tr>
              <a:tr h="357554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6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5.25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12031220122112021201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11000111101000110100111000101100001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9094121"/>
                  </a:ext>
                </a:extLst>
              </a:tr>
              <a:tr h="357554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7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5.13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12031220122112021201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11000111101000110100111000101100001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4537792"/>
                  </a:ext>
                </a:extLst>
              </a:tr>
              <a:tr h="357554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8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4.75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12031220122112021201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11000111101000110100111000101100001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114778"/>
                  </a:ext>
                </a:extLst>
              </a:tr>
              <a:tr h="357554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9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6.08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12031220122112021201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11000111101000110100111000101100001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7384009"/>
                  </a:ext>
                </a:extLst>
              </a:tr>
              <a:tr h="357554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10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5.31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12031220122112021201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11000111101000110100111000101100001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3859607"/>
                  </a:ext>
                </a:extLst>
              </a:tr>
              <a:tr h="357554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11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5.21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12031220122112021201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11000111101000110100111000101100001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7571519"/>
                  </a:ext>
                </a:extLst>
              </a:tr>
              <a:tr h="357554"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12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5.06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120312122112021201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ja-JP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游ゴシック" panose="020B0400000000000000" pitchFamily="34" charset="-128"/>
                          <a:ea typeface="游ゴシック" panose="020B0400000000000000" pitchFamily="34" charset="-128"/>
                        </a:rPr>
                        <a:t>1100011110011000101100100110</a:t>
                      </a:r>
                    </a:p>
                  </a:txBody>
                  <a:tcPr marL="6744" marR="6744" marT="6744" marB="32372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7855458"/>
                  </a:ext>
                </a:extLst>
              </a:tr>
            </a:tbl>
          </a:graphicData>
        </a:graphic>
      </p:graphicFrame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B273F404-0132-1BA8-FA7A-CCC12F1FEDA0}"/>
              </a:ext>
            </a:extLst>
          </p:cNvPr>
          <p:cNvSpPr txBox="1"/>
          <p:nvPr/>
        </p:nvSpPr>
        <p:spPr>
          <a:xfrm>
            <a:off x="7165253" y="3889566"/>
            <a:ext cx="314861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800" dirty="0"/>
              <a:t>35 bit</a:t>
            </a:r>
            <a:r>
              <a:rPr kumimoji="1" lang="ja-JP" altLang="en-US" sz="2800"/>
              <a:t>を平均</a:t>
            </a:r>
            <a:r>
              <a:rPr kumimoji="1" lang="en-US" altLang="ja-JP" sz="2800" dirty="0"/>
              <a:t>5.23s </a:t>
            </a:r>
          </a:p>
          <a:p>
            <a:r>
              <a:rPr kumimoji="1" lang="en-US" altLang="ja-JP" sz="2800" dirty="0"/>
              <a:t>≒ 6.69 bps</a:t>
            </a:r>
            <a:endParaRPr kumimoji="1" lang="ja-JP" altLang="en-US" sz="2800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3EA38B83-8425-4E9E-8B7E-871C2BD03722}"/>
              </a:ext>
            </a:extLst>
          </p:cNvPr>
          <p:cNvSpPr txBox="1"/>
          <p:nvPr/>
        </p:nvSpPr>
        <p:spPr>
          <a:xfrm>
            <a:off x="653674" y="1195744"/>
            <a:ext cx="56156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600"/>
              <a:t>表１　「</a:t>
            </a:r>
            <a:r>
              <a:rPr lang="en-US" altLang="ja-JP" sz="1600" dirty="0" err="1"/>
              <a:t>chiba</a:t>
            </a:r>
            <a:r>
              <a:rPr lang="ja-JP" altLang="en-US" sz="1600"/>
              <a:t>」と送ったときの音通信で受信したシンボル</a:t>
            </a:r>
            <a:endParaRPr kumimoji="1" lang="ja-JP" altLang="en-US" sz="1600"/>
          </a:p>
        </p:txBody>
      </p:sp>
    </p:spTree>
    <p:extLst>
      <p:ext uri="{BB962C8B-B14F-4D97-AF65-F5344CB8AC3E}">
        <p14:creationId xmlns:p14="http://schemas.microsoft.com/office/powerpoint/2010/main" val="5079305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577484A-2396-93F5-2772-23299ED919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EA840-023A-3848-9F9E-B765D57097DB}" type="datetime1">
              <a:rPr lang="en-US" altLang="ja-JP" smtClean="0"/>
              <a:t>6/30/25</a:t>
            </a:fld>
            <a:endParaRPr lang="en-US" dirty="0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AFE6B96-D0F8-BC2F-73EA-E55ABAEDD2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64101691-CCD8-EB76-F2AB-A1F1C4BA5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DE1FC-E54A-4B87-A814-263D1E8654B2}" type="slidenum">
              <a:rPr lang="en-US" smtClean="0"/>
              <a:t>5</a:t>
            </a:fld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BE2989C-ECF2-413F-4585-68989E7C3CF3}"/>
              </a:ext>
            </a:extLst>
          </p:cNvPr>
          <p:cNvSpPr txBox="1">
            <a:spLocks/>
          </p:cNvSpPr>
          <p:nvPr/>
        </p:nvSpPr>
        <p:spPr>
          <a:xfrm>
            <a:off x="1104900" y="511078"/>
            <a:ext cx="9982199" cy="584776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b="1" i="0" kern="1200" cap="all" spc="7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kumimoji="1" lang="en-US" dirty="0" err="1"/>
              <a:t>考察（音通信</a:t>
            </a:r>
            <a:r>
              <a:rPr kumimoji="1" lang="en-US" dirty="0"/>
              <a:t>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F4A4DC7-AB7A-E06C-47C6-96C40553BD3D}"/>
              </a:ext>
            </a:extLst>
          </p:cNvPr>
          <p:cNvSpPr txBox="1"/>
          <p:nvPr/>
        </p:nvSpPr>
        <p:spPr>
          <a:xfrm>
            <a:off x="1282700" y="1447800"/>
            <a:ext cx="10649069" cy="16927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800"/>
              <a:t>精度：</a:t>
            </a:r>
            <a:r>
              <a:rPr lang="en-US" altLang="ja-JP" sz="2800" dirty="0"/>
              <a:t>BER </a:t>
            </a:r>
            <a:r>
              <a:rPr lang="ja-JP" altLang="en-US" sz="2800"/>
              <a:t>≒</a:t>
            </a:r>
            <a:r>
              <a:rPr lang="en-US" altLang="ja-JP" sz="2800" dirty="0"/>
              <a:t> 0.110</a:t>
            </a:r>
          </a:p>
          <a:p>
            <a:r>
              <a:rPr kumimoji="1" lang="ja-JP" altLang="en-US" sz="2400"/>
              <a:t>達成はできなかったが</a:t>
            </a:r>
            <a:r>
              <a:rPr kumimoji="1" lang="ja-JP" altLang="en-US" sz="2800"/>
              <a:t>，</a:t>
            </a:r>
            <a:r>
              <a:rPr kumimoji="1" lang="ja-JP" altLang="en-US" sz="2400"/>
              <a:t>目標に近い値にはなった．</a:t>
            </a:r>
            <a:endParaRPr kumimoji="1" lang="en-US" altLang="ja-JP" sz="2400" dirty="0"/>
          </a:p>
          <a:p>
            <a:r>
              <a:rPr kumimoji="1" lang="ja-JP" altLang="en-US" sz="2400"/>
              <a:t>周波数によって検出しやすい・しにくい距離があったため，すべてを正確に</a:t>
            </a:r>
            <a:endParaRPr kumimoji="1" lang="en-US" altLang="ja-JP" sz="2400" dirty="0"/>
          </a:p>
          <a:p>
            <a:r>
              <a:rPr lang="ja-JP" altLang="en-US" sz="2400"/>
              <a:t>検出することが難しかった．</a:t>
            </a:r>
            <a:endParaRPr kumimoji="1" lang="en-US" altLang="ja-JP" sz="2400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EA77B3D1-4C48-A5BC-550F-27E29550F54C}"/>
              </a:ext>
            </a:extLst>
          </p:cNvPr>
          <p:cNvSpPr txBox="1"/>
          <p:nvPr/>
        </p:nvSpPr>
        <p:spPr>
          <a:xfrm>
            <a:off x="1282700" y="3429000"/>
            <a:ext cx="10078400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/>
              <a:t>速度：</a:t>
            </a:r>
            <a:r>
              <a:rPr kumimoji="1" lang="en-US" altLang="ja-JP" sz="2800" dirty="0"/>
              <a:t>6.69bps</a:t>
            </a:r>
          </a:p>
          <a:p>
            <a:r>
              <a:rPr kumimoji="1" lang="ja-JP" altLang="en-US" sz="2400"/>
              <a:t>目標を下回ってしまった．</a:t>
            </a:r>
            <a:endParaRPr kumimoji="1" lang="en-US" altLang="ja-JP" sz="2400" dirty="0"/>
          </a:p>
          <a:p>
            <a:r>
              <a:rPr kumimoji="1" lang="ja-JP" altLang="en-US" sz="2400"/>
              <a:t>同期信号が</a:t>
            </a:r>
            <a:r>
              <a:rPr kumimoji="1" lang="en-US" altLang="ja-JP" sz="2400" dirty="0"/>
              <a:t>1</a:t>
            </a:r>
            <a:r>
              <a:rPr kumimoji="1" lang="ja-JP" altLang="en-US" sz="2400"/>
              <a:t>回ではなく</a:t>
            </a:r>
            <a:r>
              <a:rPr kumimoji="1" lang="en-US" altLang="ja-JP" sz="2400" dirty="0"/>
              <a:t>2</a:t>
            </a:r>
            <a:r>
              <a:rPr kumimoji="1" lang="ja-JP" altLang="en-US" sz="2400"/>
              <a:t>回だったのが余分に時間がかかってしまった．</a:t>
            </a:r>
            <a:endParaRPr kumimoji="1" lang="en-US" altLang="ja-JP" sz="2800" dirty="0"/>
          </a:p>
          <a:p>
            <a:endParaRPr kumimoji="1" lang="ja-JP" altLang="en-US" sz="280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19514E20-C33A-C0FC-9D68-6520943005D0}"/>
              </a:ext>
            </a:extLst>
          </p:cNvPr>
          <p:cNvSpPr txBox="1"/>
          <p:nvPr/>
        </p:nvSpPr>
        <p:spPr>
          <a:xfrm>
            <a:off x="1282700" y="5210145"/>
            <a:ext cx="73661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/>
              <a:t>音通信全体として，有効であるとはいえない</a:t>
            </a:r>
          </a:p>
        </p:txBody>
      </p:sp>
    </p:spTree>
    <p:extLst>
      <p:ext uri="{BB962C8B-B14F-4D97-AF65-F5344CB8AC3E}">
        <p14:creationId xmlns:p14="http://schemas.microsoft.com/office/powerpoint/2010/main" val="1651852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91A2A13-5D91-6F19-A9ED-76EC1A0868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29D88E-C53A-584F-A931-4DF0A05105E3}" type="datetime1">
              <a:rPr lang="en-US" altLang="ja-JP" smtClean="0"/>
              <a:t>6/30/25</a:t>
            </a:fld>
            <a:endParaRPr lang="en-US" dirty="0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0D97B74E-6681-1CB9-5F32-920C10676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8A39920-2348-F748-AC21-56DC0B916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7DE1FC-E54A-4B87-A814-263D1E8654B2}" type="slidenum">
              <a:rPr lang="en-US" smtClean="0"/>
              <a:t>6</a:t>
            </a:fld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880296A-2749-AD2F-5B00-56175B093E9F}"/>
              </a:ext>
            </a:extLst>
          </p:cNvPr>
          <p:cNvSpPr txBox="1">
            <a:spLocks/>
          </p:cNvSpPr>
          <p:nvPr/>
        </p:nvSpPr>
        <p:spPr>
          <a:xfrm>
            <a:off x="1104900" y="511078"/>
            <a:ext cx="9982199" cy="584776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b="1" i="0" kern="1200" cap="all" spc="7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kumimoji="1" lang="en-US" dirty="0" err="1"/>
              <a:t>考察（音通信</a:t>
            </a:r>
            <a:r>
              <a:rPr kumimoji="1" lang="en-US" dirty="0"/>
              <a:t>）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B9B99EC-D7C8-19B6-8A41-FD27C882841F}"/>
              </a:ext>
            </a:extLst>
          </p:cNvPr>
          <p:cNvSpPr txBox="1"/>
          <p:nvPr/>
        </p:nvSpPr>
        <p:spPr>
          <a:xfrm>
            <a:off x="1282700" y="1447800"/>
            <a:ext cx="7725192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800"/>
              <a:t>課題</a:t>
            </a:r>
            <a:endParaRPr lang="en-US" altLang="ja-JP" sz="2800" dirty="0"/>
          </a:p>
          <a:p>
            <a:r>
              <a:rPr lang="ja-JP" altLang="en-US" sz="2800"/>
              <a:t>・環境音によって通信精度が左右されてしまう</a:t>
            </a:r>
            <a:endParaRPr lang="en-US" altLang="ja-JP" sz="2800" dirty="0"/>
          </a:p>
          <a:p>
            <a:r>
              <a:rPr lang="ja-JP" altLang="en-US" sz="2800"/>
              <a:t>・あまり聞いていて心地の良い音とはいえない</a:t>
            </a:r>
            <a:endParaRPr lang="en-US" altLang="ja-JP" sz="2800" dirty="0"/>
          </a:p>
          <a:p>
            <a:r>
              <a:rPr lang="ja-JP" altLang="en-US" sz="2800"/>
              <a:t>・通信距離が短い（実験では最長</a:t>
            </a:r>
            <a:r>
              <a:rPr lang="en-US" altLang="ja-JP" sz="2800" dirty="0"/>
              <a:t>2cm</a:t>
            </a:r>
            <a:r>
              <a:rPr lang="ja-JP" altLang="en-US" sz="2800"/>
              <a:t>）</a:t>
            </a:r>
            <a:endParaRPr lang="en-US" altLang="ja-JP" sz="28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C3F6FB3-105C-51B0-0865-BF1EE97C783A}"/>
              </a:ext>
            </a:extLst>
          </p:cNvPr>
          <p:cNvSpPr txBox="1"/>
          <p:nvPr/>
        </p:nvSpPr>
        <p:spPr>
          <a:xfrm>
            <a:off x="1282700" y="3936607"/>
            <a:ext cx="73661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u="sng"/>
              <a:t>音通信として，有効なシステムとはいえない</a:t>
            </a:r>
          </a:p>
        </p:txBody>
      </p:sp>
    </p:spTree>
    <p:extLst>
      <p:ext uri="{BB962C8B-B14F-4D97-AF65-F5344CB8AC3E}">
        <p14:creationId xmlns:p14="http://schemas.microsoft.com/office/powerpoint/2010/main" val="127400178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RiseVTI">
  <a:themeElements>
    <a:clrScheme name="GradientRiseVTI">
      <a:dk1>
        <a:sysClr val="windowText" lastClr="000000"/>
      </a:dk1>
      <a:lt1>
        <a:srgbClr val="FFFFFF"/>
      </a:lt1>
      <a:dk2>
        <a:srgbClr val="3C0F3A"/>
      </a:dk2>
      <a:lt2>
        <a:srgbClr val="F1F2F2"/>
      </a:lt2>
      <a:accent1>
        <a:srgbClr val="A6025C"/>
      </a:accent1>
      <a:accent2>
        <a:srgbClr val="92248E"/>
      </a:accent2>
      <a:accent3>
        <a:srgbClr val="DE95C4"/>
      </a:accent3>
      <a:accent4>
        <a:srgbClr val="FE4A00"/>
      </a:accent4>
      <a:accent5>
        <a:srgbClr val="DA002F"/>
      </a:accent5>
      <a:accent6>
        <a:srgbClr val="FF907A"/>
      </a:accent6>
      <a:hlink>
        <a:srgbClr val="CA71E4"/>
      </a:hlink>
      <a:folHlink>
        <a:srgbClr val="E45E49"/>
      </a:folHlink>
    </a:clrScheme>
    <a:fontScheme name="GradientRiseVTI">
      <a:majorFont>
        <a:latin typeface="Avenir Next LT Pro"/>
        <a:ea typeface=""/>
        <a:cs typeface=""/>
      </a:majorFont>
      <a:minorFont>
        <a:latin typeface="Avenir Next LT Pro Light"/>
        <a:ea typeface=""/>
        <a:cs typeface=""/>
      </a:minorFont>
    </a:fontScheme>
    <a:fmtScheme name="GradientRiseVTI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RiseVTI" id="{13C68A69-E745-489A-84EC-B7BCE4AA380B}" vid="{9CF7857A-9412-4E45-AB0D-6EAA5A7DC4C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1379</TotalTime>
  <Words>395</Words>
  <Application>Microsoft Macintosh PowerPoint</Application>
  <PresentationFormat>ワイド画面</PresentationFormat>
  <Paragraphs>116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1" baseType="lpstr">
      <vt:lpstr>游ゴシック</vt:lpstr>
      <vt:lpstr>Arial</vt:lpstr>
      <vt:lpstr>Avenir Next LT Pro</vt:lpstr>
      <vt:lpstr>Avenir Next LT Pro Light</vt:lpstr>
      <vt:lpstr>GradientRiseVTI</vt:lpstr>
      <vt:lpstr>PowerPoint プレゼンテーション</vt:lpstr>
      <vt:lpstr>PowerPoint プレゼンテーション</vt:lpstr>
      <vt:lpstr>評価方法（音通信）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丈 久峩</dc:creator>
  <cp:lastModifiedBy>丈 久峩</cp:lastModifiedBy>
  <cp:revision>5</cp:revision>
  <dcterms:created xsi:type="dcterms:W3CDTF">2025-06-29T14:37:20Z</dcterms:created>
  <dcterms:modified xsi:type="dcterms:W3CDTF">2025-06-30T13:36:57Z</dcterms:modified>
</cp:coreProperties>
</file>